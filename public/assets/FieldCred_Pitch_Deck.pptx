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54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2540"/>
          </a:solidFill>
          <a:ln/>
        </p:spPr>
      </p:sp>
      <p:sp>
        <p:nvSpPr>
          <p:cNvPr id="3" name="Shape 1"/>
          <p:cNvSpPr/>
          <p:nvPr/>
        </p:nvSpPr>
        <p:spPr>
          <a:xfrm>
            <a:off x="4449928" y="457200"/>
            <a:ext cx="3291840" cy="2691602"/>
          </a:xfrm>
          <a:prstGeom prst="roundRect">
            <a:avLst>
              <a:gd name="adj" fmla="val 4077"/>
            </a:avLst>
          </a:prstGeom>
          <a:solidFill>
            <a:srgbClr val="FFFFFF"/>
          </a:solidFill>
          <a:ln/>
        </p:spPr>
      </p:sp>
      <p:pic>
        <p:nvPicPr>
          <p:cNvPr id="4" name="Image 0" descr="/sessions/hopeful-pensive-planck/mnt/outputs/logo_full_transparent.png">    </p:cNvPr>
          <p:cNvPicPr>
            <a:picLocks noChangeAspect="1"/>
          </p:cNvPicPr>
          <p:nvPr/>
        </p:nvPicPr>
        <p:blipFill>
          <a:blip r:embed="rId1"/>
          <a:stretch>
            <a:fillRect/>
          </a:stretch>
        </p:blipFill>
        <p:spPr>
          <a:xfrm>
            <a:off x="4907128" y="777240"/>
            <a:ext cx="2377440" cy="2097242"/>
          </a:xfrm>
          <a:prstGeom prst="rect">
            <a:avLst/>
          </a:prstGeom>
        </p:spPr>
      </p:pic>
      <p:sp>
        <p:nvSpPr>
          <p:cNvPr id="5" name="Text 2"/>
          <p:cNvSpPr/>
          <p:nvPr/>
        </p:nvSpPr>
        <p:spPr>
          <a:xfrm>
            <a:off x="914400" y="3429000"/>
            <a:ext cx="10362895"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Know who’s cleared before they clock in.</a:t>
            </a:r>
            <a:endParaRPr lang="en-US" sz="2400" dirty="0"/>
          </a:p>
        </p:txBody>
      </p:sp>
      <p:sp>
        <p:nvSpPr>
          <p:cNvPr id="6" name="Text 3"/>
          <p:cNvSpPr/>
          <p:nvPr/>
        </p:nvSpPr>
        <p:spPr>
          <a:xfrm>
            <a:off x="1371600" y="3977640"/>
            <a:ext cx="9448495" cy="457200"/>
          </a:xfrm>
          <a:prstGeom prst="rect">
            <a:avLst/>
          </a:prstGeom>
          <a:noFill/>
          <a:ln/>
        </p:spPr>
        <p:txBody>
          <a:bodyPr wrap="square" rtlCol="0" anchor="ctr"/>
          <a:lstStyle/>
          <a:p>
            <a:pPr algn="ctr" indent="0" marL="0">
              <a:buNone/>
            </a:pPr>
            <a:r>
              <a:rPr lang="en-US" sz="1400" dirty="0">
                <a:solidFill>
                  <a:srgbClr val="CBD8D0"/>
                </a:solidFill>
                <a:latin typeface="Calibri" pitchFamily="34" charset="0"/>
                <a:ea typeface="Calibri" pitchFamily="34" charset="-122"/>
                <a:cs typeface="Calibri" pitchFamily="34" charset="-120"/>
              </a:rPr>
              <a:t>The compliance system of record for workforce credentials</a:t>
            </a:r>
            <a:endParaRPr lang="en-US" sz="1400" dirty="0"/>
          </a:p>
        </p:txBody>
      </p:sp>
      <p:sp>
        <p:nvSpPr>
          <p:cNvPr id="7" name="Text 4"/>
          <p:cNvSpPr/>
          <p:nvPr/>
        </p:nvSpPr>
        <p:spPr>
          <a:xfrm>
            <a:off x="914400" y="6126480"/>
            <a:ext cx="10362895" cy="320040"/>
          </a:xfrm>
          <a:prstGeom prst="rect">
            <a:avLst/>
          </a:prstGeom>
          <a:noFill/>
          <a:ln/>
        </p:spPr>
        <p:txBody>
          <a:bodyPr wrap="square" rtlCol="0" anchor="ctr"/>
          <a:lstStyle/>
          <a:p>
            <a:pPr algn="ctr" indent="0" marL="0">
              <a:buNone/>
            </a:pPr>
            <a:r>
              <a:rPr lang="en-US" sz="1050" b="1" spc="200" kern="0" dirty="0">
                <a:solidFill>
                  <a:srgbClr val="368C43"/>
                </a:solidFill>
                <a:latin typeface="Calibri" pitchFamily="34" charset="0"/>
                <a:ea typeface="Calibri" pitchFamily="34" charset="-122"/>
                <a:cs typeface="Calibri" pitchFamily="34" charset="-120"/>
              </a:rPr>
              <a:t>SALES &amp; PARTNERSHIP OVERVIEW</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77240"/>
            <a:ext cx="11064240" cy="822960"/>
          </a:xfrm>
          <a:prstGeom prst="rect">
            <a:avLst/>
          </a:prstGeom>
          <a:noFill/>
          <a:ln/>
        </p:spPr>
        <p:txBody>
          <a:bodyPr wrap="square" rtlCol="0" anchor="ctr"/>
          <a:lstStyle/>
          <a:p>
            <a:pPr indent="0" marL="0">
              <a:buNone/>
            </a:pPr>
            <a:r>
              <a:rPr lang="en-US" sz="3000" b="1" dirty="0">
                <a:solidFill>
                  <a:srgbClr val="0C2540"/>
                </a:solidFill>
                <a:latin typeface="Calibri" pitchFamily="34" charset="0"/>
                <a:ea typeface="Calibri" pitchFamily="34" charset="-122"/>
                <a:cs typeface="Calibri" pitchFamily="34" charset="-120"/>
              </a:rPr>
              <a:t>One expired card can hold up the whole crew.</a:t>
            </a:r>
            <a:endParaRPr lang="en-US" sz="3000" dirty="0"/>
          </a:p>
        </p:txBody>
      </p:sp>
      <p:sp>
        <p:nvSpPr>
          <p:cNvPr id="4" name="Text 2"/>
          <p:cNvSpPr/>
          <p:nvPr/>
        </p:nvSpPr>
        <p:spPr>
          <a:xfrm>
            <a:off x="548640" y="1600200"/>
            <a:ext cx="11064240" cy="685800"/>
          </a:xfrm>
          <a:prstGeom prst="rect">
            <a:avLst/>
          </a:prstGeom>
          <a:noFill/>
          <a:ln/>
        </p:spPr>
        <p:txBody>
          <a:bodyPr wrap="square" rtlCol="0" anchor="ctr"/>
          <a:lstStyle/>
          <a:p>
            <a:pPr indent="0" marL="0">
              <a:lnSpc>
                <a:spcPct val="125000"/>
              </a:lnSpc>
              <a:buNone/>
            </a:pPr>
            <a:r>
              <a:rPr lang="en-US" sz="1300" dirty="0">
                <a:solidFill>
                  <a:srgbClr val="4B5563"/>
                </a:solidFill>
                <a:latin typeface="Calibri" pitchFamily="34" charset="0"/>
                <a:ea typeface="Calibri" pitchFamily="34" charset="-122"/>
                <a:cs typeface="Calibri" pitchFamily="34" charset="-120"/>
              </a:rPr>
              <a:t>Field and trades work runs on certifications — OSHA cards, journeyman licenses, confined space training, arc flash safety, equipment operator certs. They expire constantly, and one lapsed credential at the wrong moment means delays, missed renewals, and audit exposure.</a:t>
            </a:r>
            <a:endParaRPr lang="en-US" sz="1300" dirty="0"/>
          </a:p>
        </p:txBody>
      </p:sp>
      <p:sp>
        <p:nvSpPr>
          <p:cNvPr id="5" name="Shape 3"/>
          <p:cNvSpPr/>
          <p:nvPr/>
        </p:nvSpPr>
        <p:spPr>
          <a:xfrm>
            <a:off x="548640" y="2651760"/>
            <a:ext cx="3566160" cy="2834640"/>
          </a:xfrm>
          <a:prstGeom prst="roundRect">
            <a:avLst>
              <a:gd name="adj" fmla="val 2581"/>
            </a:avLst>
          </a:prstGeom>
          <a:solidFill>
            <a:srgbClr val="F3F5F4"/>
          </a:solidFill>
          <a:ln/>
        </p:spPr>
      </p:sp>
      <p:sp>
        <p:nvSpPr>
          <p:cNvPr id="6" name="Shape 4"/>
          <p:cNvSpPr/>
          <p:nvPr/>
        </p:nvSpPr>
        <p:spPr>
          <a:xfrm>
            <a:off x="868680" y="2971800"/>
            <a:ext cx="685800" cy="685800"/>
          </a:xfrm>
          <a:prstGeom prst="ellipse">
            <a:avLst/>
          </a:prstGeom>
          <a:solidFill>
            <a:srgbClr val="0C2540"/>
          </a:solidFill>
          <a:ln/>
        </p:spPr>
      </p:sp>
      <p:pic>
        <p:nvPicPr>
          <p:cNvPr id="7" name="Image 0" descr="/sessions/hopeful-pensive-planck/mnt/outputs/deck_build/icons/clock-white.png">    </p:cNvPr>
          <p:cNvPicPr>
            <a:picLocks noChangeAspect="1"/>
          </p:cNvPicPr>
          <p:nvPr/>
        </p:nvPicPr>
        <p:blipFill>
          <a:blip r:embed="rId1"/>
          <a:stretch>
            <a:fillRect/>
          </a:stretch>
        </p:blipFill>
        <p:spPr>
          <a:xfrm>
            <a:off x="1019556" y="3122676"/>
            <a:ext cx="384048" cy="384048"/>
          </a:xfrm>
          <a:prstGeom prst="rect">
            <a:avLst/>
          </a:prstGeom>
        </p:spPr>
      </p:pic>
      <p:sp>
        <p:nvSpPr>
          <p:cNvPr id="8" name="Text 5"/>
          <p:cNvSpPr/>
          <p:nvPr/>
        </p:nvSpPr>
        <p:spPr>
          <a:xfrm>
            <a:off x="868680" y="3794760"/>
            <a:ext cx="2926080" cy="502920"/>
          </a:xfrm>
          <a:prstGeom prst="rect">
            <a:avLst/>
          </a:prstGeom>
          <a:noFill/>
          <a:ln/>
        </p:spPr>
        <p:txBody>
          <a:bodyPr wrap="square" rtlCol="0" anchor="ctr"/>
          <a:lstStyle/>
          <a:p>
            <a:pPr indent="0" marL="0">
              <a:buNone/>
            </a:pPr>
            <a:r>
              <a:rPr lang="en-US" sz="1500" b="1" dirty="0">
                <a:solidFill>
                  <a:srgbClr val="0C2540"/>
                </a:solidFill>
                <a:latin typeface="Calibri" pitchFamily="34" charset="0"/>
                <a:ea typeface="Calibri" pitchFamily="34" charset="-122"/>
                <a:cs typeface="Calibri" pitchFamily="34" charset="-120"/>
              </a:rPr>
              <a:t>The gate doesn’t wait</a:t>
            </a:r>
            <a:endParaRPr lang="en-US" sz="1500" dirty="0"/>
          </a:p>
        </p:txBody>
      </p:sp>
      <p:sp>
        <p:nvSpPr>
          <p:cNvPr id="9" name="Text 6"/>
          <p:cNvSpPr/>
          <p:nvPr/>
        </p:nvSpPr>
        <p:spPr>
          <a:xfrm>
            <a:off x="868680" y="4279392"/>
            <a:ext cx="2926080" cy="10515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A worker shows up on site and someone needs proof of a current cert right now — not after a callback to the office.</a:t>
            </a:r>
            <a:endParaRPr lang="en-US" sz="1100" dirty="0"/>
          </a:p>
        </p:txBody>
      </p:sp>
      <p:sp>
        <p:nvSpPr>
          <p:cNvPr id="10" name="Shape 7"/>
          <p:cNvSpPr/>
          <p:nvPr/>
        </p:nvSpPr>
        <p:spPr>
          <a:xfrm>
            <a:off x="4370832" y="2651760"/>
            <a:ext cx="3566160" cy="2834640"/>
          </a:xfrm>
          <a:prstGeom prst="roundRect">
            <a:avLst>
              <a:gd name="adj" fmla="val 2581"/>
            </a:avLst>
          </a:prstGeom>
          <a:solidFill>
            <a:srgbClr val="F3F5F4"/>
          </a:solidFill>
          <a:ln/>
        </p:spPr>
      </p:sp>
      <p:sp>
        <p:nvSpPr>
          <p:cNvPr id="11" name="Shape 8"/>
          <p:cNvSpPr/>
          <p:nvPr/>
        </p:nvSpPr>
        <p:spPr>
          <a:xfrm>
            <a:off x="4690872" y="2971800"/>
            <a:ext cx="685800" cy="685800"/>
          </a:xfrm>
          <a:prstGeom prst="ellipse">
            <a:avLst/>
          </a:prstGeom>
          <a:solidFill>
            <a:srgbClr val="0C2540"/>
          </a:solidFill>
          <a:ln/>
        </p:spPr>
      </p:sp>
      <p:pic>
        <p:nvPicPr>
          <p:cNvPr id="12" name="Image 1" descr="/sessions/hopeful-pensive-planck/mnt/outputs/deck_build/icons/exclamation-white.png">    </p:cNvPr>
          <p:cNvPicPr>
            <a:picLocks noChangeAspect="1"/>
          </p:cNvPicPr>
          <p:nvPr/>
        </p:nvPicPr>
        <p:blipFill>
          <a:blip r:embed="rId2"/>
          <a:stretch>
            <a:fillRect/>
          </a:stretch>
        </p:blipFill>
        <p:spPr>
          <a:xfrm>
            <a:off x="4841748" y="3122676"/>
            <a:ext cx="384048" cy="384048"/>
          </a:xfrm>
          <a:prstGeom prst="rect">
            <a:avLst/>
          </a:prstGeom>
        </p:spPr>
      </p:pic>
      <p:sp>
        <p:nvSpPr>
          <p:cNvPr id="13" name="Text 9"/>
          <p:cNvSpPr/>
          <p:nvPr/>
        </p:nvSpPr>
        <p:spPr>
          <a:xfrm>
            <a:off x="4690872" y="3794760"/>
            <a:ext cx="2926080" cy="502920"/>
          </a:xfrm>
          <a:prstGeom prst="rect">
            <a:avLst/>
          </a:prstGeom>
          <a:noFill/>
          <a:ln/>
        </p:spPr>
        <p:txBody>
          <a:bodyPr wrap="square" rtlCol="0" anchor="ctr"/>
          <a:lstStyle/>
          <a:p>
            <a:pPr indent="0" marL="0">
              <a:buNone/>
            </a:pPr>
            <a:r>
              <a:rPr lang="en-US" sz="1500" b="1" dirty="0">
                <a:solidFill>
                  <a:srgbClr val="0C2540"/>
                </a:solidFill>
                <a:latin typeface="Calibri" pitchFamily="34" charset="0"/>
                <a:ea typeface="Calibri" pitchFamily="34" charset="-122"/>
                <a:cs typeface="Calibri" pitchFamily="34" charset="-120"/>
              </a:rPr>
              <a:t>Spreadsheets miss expirations</a:t>
            </a:r>
            <a:endParaRPr lang="en-US" sz="1500" dirty="0"/>
          </a:p>
        </p:txBody>
      </p:sp>
      <p:sp>
        <p:nvSpPr>
          <p:cNvPr id="14" name="Text 10"/>
          <p:cNvSpPr/>
          <p:nvPr/>
        </p:nvSpPr>
        <p:spPr>
          <a:xfrm>
            <a:off x="4690872" y="4279392"/>
            <a:ext cx="2926080" cy="10515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A cert that lapsed last month doesn’t announce itself in a shared spreadsheet. It just sits there, quietly out of compliance.</a:t>
            </a:r>
            <a:endParaRPr lang="en-US" sz="1100" dirty="0"/>
          </a:p>
        </p:txBody>
      </p:sp>
      <p:sp>
        <p:nvSpPr>
          <p:cNvPr id="15" name="Shape 11"/>
          <p:cNvSpPr/>
          <p:nvPr/>
        </p:nvSpPr>
        <p:spPr>
          <a:xfrm>
            <a:off x="8193024" y="2651760"/>
            <a:ext cx="3566160" cy="2834640"/>
          </a:xfrm>
          <a:prstGeom prst="roundRect">
            <a:avLst>
              <a:gd name="adj" fmla="val 2581"/>
            </a:avLst>
          </a:prstGeom>
          <a:solidFill>
            <a:srgbClr val="F3F5F4"/>
          </a:solidFill>
          <a:ln/>
        </p:spPr>
      </p:sp>
      <p:sp>
        <p:nvSpPr>
          <p:cNvPr id="16" name="Shape 12"/>
          <p:cNvSpPr/>
          <p:nvPr/>
        </p:nvSpPr>
        <p:spPr>
          <a:xfrm>
            <a:off x="8513064" y="2971800"/>
            <a:ext cx="685800" cy="685800"/>
          </a:xfrm>
          <a:prstGeom prst="ellipse">
            <a:avLst/>
          </a:prstGeom>
          <a:solidFill>
            <a:srgbClr val="0C2540"/>
          </a:solidFill>
          <a:ln/>
        </p:spPr>
      </p:sp>
      <p:pic>
        <p:nvPicPr>
          <p:cNvPr id="17" name="Image 2" descr="/sessions/hopeful-pensive-planck/mnt/outputs/deck_build/icons/search-white.png">    </p:cNvPr>
          <p:cNvPicPr>
            <a:picLocks noChangeAspect="1"/>
          </p:cNvPicPr>
          <p:nvPr/>
        </p:nvPicPr>
        <p:blipFill>
          <a:blip r:embed="rId3"/>
          <a:stretch>
            <a:fillRect/>
          </a:stretch>
        </p:blipFill>
        <p:spPr>
          <a:xfrm>
            <a:off x="8663940" y="3122676"/>
            <a:ext cx="384048" cy="384048"/>
          </a:xfrm>
          <a:prstGeom prst="rect">
            <a:avLst/>
          </a:prstGeom>
        </p:spPr>
      </p:pic>
      <p:sp>
        <p:nvSpPr>
          <p:cNvPr id="18" name="Text 13"/>
          <p:cNvSpPr/>
          <p:nvPr/>
        </p:nvSpPr>
        <p:spPr>
          <a:xfrm>
            <a:off x="8513064" y="3794760"/>
            <a:ext cx="2926080" cy="502920"/>
          </a:xfrm>
          <a:prstGeom prst="rect">
            <a:avLst/>
          </a:prstGeom>
          <a:noFill/>
          <a:ln/>
        </p:spPr>
        <p:txBody>
          <a:bodyPr wrap="square" rtlCol="0" anchor="ctr"/>
          <a:lstStyle/>
          <a:p>
            <a:pPr indent="0" marL="0">
              <a:buNone/>
            </a:pPr>
            <a:r>
              <a:rPr lang="en-US" sz="1500" b="1" dirty="0">
                <a:solidFill>
                  <a:srgbClr val="0C2540"/>
                </a:solidFill>
                <a:latin typeface="Calibri" pitchFamily="34" charset="0"/>
                <a:ea typeface="Calibri" pitchFamily="34" charset="-122"/>
                <a:cs typeface="Calibri" pitchFamily="34" charset="-120"/>
              </a:rPr>
              <a:t>Audits become a scramble</a:t>
            </a:r>
            <a:endParaRPr lang="en-US" sz="1500" dirty="0"/>
          </a:p>
        </p:txBody>
      </p:sp>
      <p:sp>
        <p:nvSpPr>
          <p:cNvPr id="19" name="Text 14"/>
          <p:cNvSpPr/>
          <p:nvPr/>
        </p:nvSpPr>
        <p:spPr>
          <a:xfrm>
            <a:off x="8513064" y="4279392"/>
            <a:ext cx="2926080" cy="10515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When records, certificate files, and expiration dates live in different places, pulling a clean audit trail costs days.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4"/>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777240"/>
            <a:ext cx="11064240" cy="640080"/>
          </a:xfrm>
          <a:prstGeom prst="rect">
            <a:avLst/>
          </a:prstGeom>
          <a:noFill/>
          <a:ln/>
        </p:spPr>
        <p:txBody>
          <a:bodyPr wrap="square" rtlCol="0" anchor="ctr"/>
          <a:lstStyle/>
          <a:p>
            <a:pPr indent="0" marL="0">
              <a:buNone/>
            </a:pPr>
            <a:r>
              <a:rPr lang="en-US" sz="3000" b="1" dirty="0">
                <a:solidFill>
                  <a:srgbClr val="0C2540"/>
                </a:solidFill>
                <a:latin typeface="Calibri" pitchFamily="34" charset="0"/>
                <a:ea typeface="Calibri" pitchFamily="34" charset="-122"/>
                <a:cs typeface="Calibri" pitchFamily="34" charset="-120"/>
              </a:rPr>
              <a:t>Operational certainty at every checkpoint.</a:t>
            </a:r>
            <a:endParaRPr lang="en-US" sz="30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00" dirty="0">
                <a:solidFill>
                  <a:srgbClr val="4B5563"/>
                </a:solidFill>
                <a:latin typeface="Calibri" pitchFamily="34" charset="0"/>
                <a:ea typeface="Calibri" pitchFamily="34" charset="-122"/>
                <a:cs typeface="Calibri" pitchFamily="34" charset="-120"/>
              </a:rPr>
              <a:t>Before dispatch, at the gate, and during audits — one system that answers whether a worker is cleared.</a:t>
            </a:r>
            <a:endParaRPr lang="en-US" sz="1300" dirty="0"/>
          </a:p>
        </p:txBody>
      </p:sp>
      <p:sp>
        <p:nvSpPr>
          <p:cNvPr id="5" name="Shape 3"/>
          <p:cNvSpPr/>
          <p:nvPr/>
        </p:nvSpPr>
        <p:spPr>
          <a:xfrm>
            <a:off x="548640" y="2194560"/>
            <a:ext cx="3566160" cy="3291840"/>
          </a:xfrm>
          <a:prstGeom prst="roundRect">
            <a:avLst>
              <a:gd name="adj" fmla="val 2222"/>
            </a:avLst>
          </a:prstGeom>
          <a:solidFill>
            <a:srgbClr val="0C2540"/>
          </a:solidFill>
          <a:ln/>
        </p:spPr>
      </p:sp>
      <p:sp>
        <p:nvSpPr>
          <p:cNvPr id="6" name="Shape 4"/>
          <p:cNvSpPr/>
          <p:nvPr/>
        </p:nvSpPr>
        <p:spPr>
          <a:xfrm>
            <a:off x="868680" y="2560320"/>
            <a:ext cx="731520" cy="731520"/>
          </a:xfrm>
          <a:prstGeom prst="ellipse">
            <a:avLst/>
          </a:prstGeom>
          <a:solidFill>
            <a:srgbClr val="368C43"/>
          </a:solidFill>
          <a:ln/>
        </p:spPr>
      </p:sp>
      <p:pic>
        <p:nvPicPr>
          <p:cNvPr id="7" name="Image 0" descr="/sessions/hopeful-pensive-planck/mnt/outputs/deck_build/icons/checkcircle-white.png">    </p:cNvPr>
          <p:cNvPicPr>
            <a:picLocks noChangeAspect="1"/>
          </p:cNvPicPr>
          <p:nvPr/>
        </p:nvPicPr>
        <p:blipFill>
          <a:blip r:embed="rId1"/>
          <a:stretch>
            <a:fillRect/>
          </a:stretch>
        </p:blipFill>
        <p:spPr>
          <a:xfrm>
            <a:off x="1029614" y="2721254"/>
            <a:ext cx="409651" cy="409651"/>
          </a:xfrm>
          <a:prstGeom prst="rect">
            <a:avLst/>
          </a:prstGeom>
        </p:spPr>
      </p:pic>
      <p:sp>
        <p:nvSpPr>
          <p:cNvPr id="8" name="Text 5"/>
          <p:cNvSpPr/>
          <p:nvPr/>
        </p:nvSpPr>
        <p:spPr>
          <a:xfrm>
            <a:off x="868680" y="3474720"/>
            <a:ext cx="292608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Prevent gate delays</a:t>
            </a:r>
            <a:endParaRPr lang="en-US" sz="1600" dirty="0"/>
          </a:p>
        </p:txBody>
      </p:sp>
      <p:sp>
        <p:nvSpPr>
          <p:cNvPr id="9" name="Text 6"/>
          <p:cNvSpPr/>
          <p:nvPr/>
        </p:nvSpPr>
        <p:spPr>
          <a:xfrm>
            <a:off x="868680" y="4023360"/>
            <a:ext cx="2926080" cy="1280160"/>
          </a:xfrm>
          <a:prstGeom prst="rect">
            <a:avLst/>
          </a:prstGeom>
          <a:noFill/>
          <a:ln/>
        </p:spPr>
        <p:txBody>
          <a:bodyPr wrap="square" rtlCol="0" anchor="ctr"/>
          <a:lstStyle/>
          <a:p>
            <a:pPr indent="0" marL="0">
              <a:lnSpc>
                <a:spcPct val="130000"/>
              </a:lnSpc>
              <a:buNone/>
            </a:pPr>
            <a:r>
              <a:rPr lang="en-US" sz="1150" dirty="0">
                <a:solidFill>
                  <a:srgbClr val="CBD8D0"/>
                </a:solidFill>
                <a:latin typeface="Calibri" pitchFamily="34" charset="0"/>
                <a:ea typeface="Calibri" pitchFamily="34" charset="-122"/>
                <a:cs typeface="Calibri" pitchFamily="34" charset="-120"/>
              </a:rPr>
              <a:t>A supervisor or gate checker scans a QR code and verifies credential status in seconds — without calling the office.</a:t>
            </a:r>
            <a:endParaRPr lang="en-US" sz="1150" dirty="0"/>
          </a:p>
        </p:txBody>
      </p:sp>
      <p:sp>
        <p:nvSpPr>
          <p:cNvPr id="10" name="Shape 7"/>
          <p:cNvSpPr/>
          <p:nvPr/>
        </p:nvSpPr>
        <p:spPr>
          <a:xfrm>
            <a:off x="4370832" y="2194560"/>
            <a:ext cx="3566160" cy="3291840"/>
          </a:xfrm>
          <a:prstGeom prst="roundRect">
            <a:avLst>
              <a:gd name="adj" fmla="val 2222"/>
            </a:avLst>
          </a:prstGeom>
          <a:solidFill>
            <a:srgbClr val="0C2540"/>
          </a:solidFill>
          <a:ln/>
        </p:spPr>
      </p:sp>
      <p:sp>
        <p:nvSpPr>
          <p:cNvPr id="11" name="Shape 8"/>
          <p:cNvSpPr/>
          <p:nvPr/>
        </p:nvSpPr>
        <p:spPr>
          <a:xfrm>
            <a:off x="4690872" y="2560320"/>
            <a:ext cx="731520" cy="731520"/>
          </a:xfrm>
          <a:prstGeom prst="ellipse">
            <a:avLst/>
          </a:prstGeom>
          <a:solidFill>
            <a:srgbClr val="368C43"/>
          </a:solidFill>
          <a:ln/>
        </p:spPr>
      </p:sp>
      <p:pic>
        <p:nvPicPr>
          <p:cNvPr id="12" name="Image 1" descr="/sessions/hopeful-pensive-planck/mnt/outputs/deck_build/icons/bell-white.png">    </p:cNvPr>
          <p:cNvPicPr>
            <a:picLocks noChangeAspect="1"/>
          </p:cNvPicPr>
          <p:nvPr/>
        </p:nvPicPr>
        <p:blipFill>
          <a:blip r:embed="rId2"/>
          <a:stretch>
            <a:fillRect/>
          </a:stretch>
        </p:blipFill>
        <p:spPr>
          <a:xfrm>
            <a:off x="4851806" y="2721254"/>
            <a:ext cx="409651" cy="409651"/>
          </a:xfrm>
          <a:prstGeom prst="rect">
            <a:avLst/>
          </a:prstGeom>
        </p:spPr>
      </p:pic>
      <p:sp>
        <p:nvSpPr>
          <p:cNvPr id="13" name="Text 9"/>
          <p:cNvSpPr/>
          <p:nvPr/>
        </p:nvSpPr>
        <p:spPr>
          <a:xfrm>
            <a:off x="4690872" y="3474720"/>
            <a:ext cx="292608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Catch expirations early</a:t>
            </a:r>
            <a:endParaRPr lang="en-US" sz="1600" dirty="0"/>
          </a:p>
        </p:txBody>
      </p:sp>
      <p:sp>
        <p:nvSpPr>
          <p:cNvPr id="14" name="Text 10"/>
          <p:cNvSpPr/>
          <p:nvPr/>
        </p:nvSpPr>
        <p:spPr>
          <a:xfrm>
            <a:off x="4690872" y="4023360"/>
            <a:ext cx="2926080" cy="1280160"/>
          </a:xfrm>
          <a:prstGeom prst="rect">
            <a:avLst/>
          </a:prstGeom>
          <a:noFill/>
          <a:ln/>
        </p:spPr>
        <p:txBody>
          <a:bodyPr wrap="square" rtlCol="0" anchor="ctr"/>
          <a:lstStyle/>
          <a:p>
            <a:pPr indent="0" marL="0">
              <a:lnSpc>
                <a:spcPct val="130000"/>
              </a:lnSpc>
              <a:buNone/>
            </a:pPr>
            <a:r>
              <a:rPr lang="en-US" sz="1150" dirty="0">
                <a:solidFill>
                  <a:srgbClr val="CBD8D0"/>
                </a:solidFill>
                <a:latin typeface="Calibri" pitchFamily="34" charset="0"/>
                <a:ea typeface="Calibri" pitchFamily="34" charset="-122"/>
                <a:cs typeface="Calibri" pitchFamily="34" charset="-120"/>
              </a:rPr>
              <a:t>Safety and admin teams see valid, expiring, expired, and missing credentials at a glance — and renew before they lapse.</a:t>
            </a:r>
            <a:endParaRPr lang="en-US" sz="1150" dirty="0"/>
          </a:p>
        </p:txBody>
      </p:sp>
      <p:sp>
        <p:nvSpPr>
          <p:cNvPr id="15" name="Shape 11"/>
          <p:cNvSpPr/>
          <p:nvPr/>
        </p:nvSpPr>
        <p:spPr>
          <a:xfrm>
            <a:off x="8193024" y="2194560"/>
            <a:ext cx="3566160" cy="3291840"/>
          </a:xfrm>
          <a:prstGeom prst="roundRect">
            <a:avLst>
              <a:gd name="adj" fmla="val 2222"/>
            </a:avLst>
          </a:prstGeom>
          <a:solidFill>
            <a:srgbClr val="0C2540"/>
          </a:solidFill>
          <a:ln/>
        </p:spPr>
      </p:sp>
      <p:sp>
        <p:nvSpPr>
          <p:cNvPr id="16" name="Shape 12"/>
          <p:cNvSpPr/>
          <p:nvPr/>
        </p:nvSpPr>
        <p:spPr>
          <a:xfrm>
            <a:off x="8513064" y="2560320"/>
            <a:ext cx="731520" cy="731520"/>
          </a:xfrm>
          <a:prstGeom prst="ellipse">
            <a:avLst/>
          </a:prstGeom>
          <a:solidFill>
            <a:srgbClr val="368C43"/>
          </a:solidFill>
          <a:ln/>
        </p:spPr>
      </p:sp>
      <p:pic>
        <p:nvPicPr>
          <p:cNvPr id="17" name="Image 2" descr="/sessions/hopeful-pensive-planck/mnt/outputs/deck_build/icons/clipboardcheck-white.png">    </p:cNvPr>
          <p:cNvPicPr>
            <a:picLocks noChangeAspect="1"/>
          </p:cNvPicPr>
          <p:nvPr/>
        </p:nvPicPr>
        <p:blipFill>
          <a:blip r:embed="rId3"/>
          <a:stretch>
            <a:fillRect/>
          </a:stretch>
        </p:blipFill>
        <p:spPr>
          <a:xfrm>
            <a:off x="8673998" y="2721254"/>
            <a:ext cx="409651" cy="409651"/>
          </a:xfrm>
          <a:prstGeom prst="rect">
            <a:avLst/>
          </a:prstGeom>
        </p:spPr>
      </p:pic>
      <p:sp>
        <p:nvSpPr>
          <p:cNvPr id="18" name="Text 13"/>
          <p:cNvSpPr/>
          <p:nvPr/>
        </p:nvSpPr>
        <p:spPr>
          <a:xfrm>
            <a:off x="8513064" y="3474720"/>
            <a:ext cx="292608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Support audit readiness</a:t>
            </a:r>
            <a:endParaRPr lang="en-US" sz="1600" dirty="0"/>
          </a:p>
        </p:txBody>
      </p:sp>
      <p:sp>
        <p:nvSpPr>
          <p:cNvPr id="19" name="Text 14"/>
          <p:cNvSpPr/>
          <p:nvPr/>
        </p:nvSpPr>
        <p:spPr>
          <a:xfrm>
            <a:off x="8513064" y="4023360"/>
            <a:ext cx="2926080" cy="1280160"/>
          </a:xfrm>
          <a:prstGeom prst="rect">
            <a:avLst/>
          </a:prstGeom>
          <a:noFill/>
          <a:ln/>
        </p:spPr>
        <p:txBody>
          <a:bodyPr wrap="square" rtlCol="0" anchor="ctr"/>
          <a:lstStyle/>
          <a:p>
            <a:pPr indent="0" marL="0">
              <a:lnSpc>
                <a:spcPct val="130000"/>
              </a:lnSpc>
              <a:buNone/>
            </a:pPr>
            <a:r>
              <a:rPr lang="en-US" sz="1150" dirty="0">
                <a:solidFill>
                  <a:srgbClr val="CBD8D0"/>
                </a:solidFill>
                <a:latin typeface="Calibri" pitchFamily="34" charset="0"/>
                <a:ea typeface="Calibri" pitchFamily="34" charset="-122"/>
                <a:cs typeface="Calibri" pitchFamily="34" charset="-120"/>
              </a:rPr>
              <a:t>Records, certificate files, expiration dates, and exports are organized in one place — ready when an audit calls.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77240"/>
            <a:ext cx="11064240" cy="640080"/>
          </a:xfrm>
          <a:prstGeom prst="rect">
            <a:avLst/>
          </a:prstGeom>
          <a:noFill/>
          <a:ln/>
        </p:spPr>
        <p:txBody>
          <a:bodyPr wrap="square" rtlCol="0" anchor="ctr"/>
          <a:lstStyle/>
          <a:p>
            <a:pPr indent="0" marL="0">
              <a:buNone/>
            </a:pPr>
            <a:r>
              <a:rPr lang="en-US" sz="3000" b="1" dirty="0">
                <a:solidFill>
                  <a:srgbClr val="0C2540"/>
                </a:solidFill>
                <a:latin typeface="Calibri" pitchFamily="34" charset="0"/>
                <a:ea typeface="Calibri" pitchFamily="34" charset="-122"/>
                <a:cs typeface="Calibri" pitchFamily="34" charset="-120"/>
              </a:rPr>
              <a:t>Upload once. Verify anywhere.</a:t>
            </a:r>
            <a:endParaRPr lang="en-US" sz="3000" dirty="0"/>
          </a:p>
        </p:txBody>
      </p:sp>
      <p:sp>
        <p:nvSpPr>
          <p:cNvPr id="4" name="Shape 2"/>
          <p:cNvSpPr/>
          <p:nvPr/>
        </p:nvSpPr>
        <p:spPr>
          <a:xfrm>
            <a:off x="1920240" y="2286000"/>
            <a:ext cx="1051560" cy="1051560"/>
          </a:xfrm>
          <a:prstGeom prst="ellipse">
            <a:avLst/>
          </a:prstGeom>
          <a:solidFill>
            <a:srgbClr val="0C2540"/>
          </a:solidFill>
          <a:ln/>
        </p:spPr>
      </p:sp>
      <p:pic>
        <p:nvPicPr>
          <p:cNvPr id="5" name="Image 0" descr="/sessions/hopeful-pensive-planck/mnt/outputs/deck_build/icons/upload-white.png">    </p:cNvPr>
          <p:cNvPicPr>
            <a:picLocks noChangeAspect="1"/>
          </p:cNvPicPr>
          <p:nvPr/>
        </p:nvPicPr>
        <p:blipFill>
          <a:blip r:embed="rId1"/>
          <a:stretch>
            <a:fillRect/>
          </a:stretch>
        </p:blipFill>
        <p:spPr>
          <a:xfrm>
            <a:off x="2183130" y="2548890"/>
            <a:ext cx="525780" cy="525780"/>
          </a:xfrm>
          <a:prstGeom prst="rect">
            <a:avLst/>
          </a:prstGeom>
        </p:spPr>
      </p:pic>
      <p:sp>
        <p:nvSpPr>
          <p:cNvPr id="6" name="Shape 3"/>
          <p:cNvSpPr/>
          <p:nvPr/>
        </p:nvSpPr>
        <p:spPr>
          <a:xfrm>
            <a:off x="1901952" y="2267712"/>
            <a:ext cx="310896" cy="310896"/>
          </a:xfrm>
          <a:prstGeom prst="ellipse">
            <a:avLst/>
          </a:prstGeom>
          <a:solidFill>
            <a:srgbClr val="368C43"/>
          </a:solidFill>
          <a:ln w="25400">
            <a:solidFill>
              <a:srgbClr val="FFFFFF"/>
            </a:solidFill>
            <a:prstDash val="solid"/>
          </a:ln>
        </p:spPr>
      </p:sp>
      <p:sp>
        <p:nvSpPr>
          <p:cNvPr id="7" name="Text 4"/>
          <p:cNvSpPr/>
          <p:nvPr/>
        </p:nvSpPr>
        <p:spPr>
          <a:xfrm>
            <a:off x="1901952" y="22677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pic>
        <p:nvPicPr>
          <p:cNvPr id="8" name="Image 1" descr="/sessions/hopeful-pensive-planck/mnt/outputs/deck_build/icons/arrowright-navy.png">    </p:cNvPr>
          <p:cNvPicPr>
            <a:picLocks noChangeAspect="1"/>
          </p:cNvPicPr>
          <p:nvPr/>
        </p:nvPicPr>
        <p:blipFill>
          <a:blip r:embed="rId2"/>
          <a:stretch>
            <a:fillRect/>
          </a:stretch>
        </p:blipFill>
        <p:spPr>
          <a:xfrm>
            <a:off x="4142232" y="2647188"/>
            <a:ext cx="347472" cy="329184"/>
          </a:xfrm>
          <a:prstGeom prst="rect">
            <a:avLst/>
          </a:prstGeom>
        </p:spPr>
      </p:pic>
      <p:sp>
        <p:nvSpPr>
          <p:cNvPr id="9" name="Text 5"/>
          <p:cNvSpPr/>
          <p:nvPr/>
        </p:nvSpPr>
        <p:spPr>
          <a:xfrm>
            <a:off x="822960" y="3611880"/>
            <a:ext cx="3246120" cy="457200"/>
          </a:xfrm>
          <a:prstGeom prst="rect">
            <a:avLst/>
          </a:prstGeom>
          <a:noFill/>
          <a:ln/>
        </p:spPr>
        <p:txBody>
          <a:bodyPr wrap="square" rtlCol="0" anchor="ctr"/>
          <a:lstStyle/>
          <a:p>
            <a:pPr algn="ctr" indent="0" marL="0">
              <a:buNone/>
            </a:pPr>
            <a:r>
              <a:rPr lang="en-US" sz="1500" b="1" dirty="0">
                <a:solidFill>
                  <a:srgbClr val="0C2540"/>
                </a:solidFill>
                <a:latin typeface="Calibri" pitchFamily="34" charset="0"/>
                <a:ea typeface="Calibri" pitchFamily="34" charset="-122"/>
                <a:cs typeface="Calibri" pitchFamily="34" charset="-120"/>
              </a:rPr>
              <a:t>Upload credentials</a:t>
            </a:r>
            <a:endParaRPr lang="en-US" sz="1500" dirty="0"/>
          </a:p>
        </p:txBody>
      </p:sp>
      <p:sp>
        <p:nvSpPr>
          <p:cNvPr id="10" name="Text 6"/>
          <p:cNvSpPr/>
          <p:nvPr/>
        </p:nvSpPr>
        <p:spPr>
          <a:xfrm>
            <a:off x="822960" y="4069080"/>
            <a:ext cx="3246120" cy="1371600"/>
          </a:xfrm>
          <a:prstGeom prst="rect">
            <a:avLst/>
          </a:prstGeom>
          <a:noFill/>
          <a:ln/>
        </p:spPr>
        <p:txBody>
          <a:bodyPr wrap="square" rtlCol="0" anchor="ctr"/>
          <a:lstStyle/>
          <a:p>
            <a:pPr algn="ctr" indent="0" marL="0">
              <a:lnSpc>
                <a:spcPct val="130000"/>
              </a:lnSpc>
              <a:buNone/>
            </a:pPr>
            <a:r>
              <a:rPr lang="en-US" sz="1150" dirty="0">
                <a:solidFill>
                  <a:srgbClr val="4B5563"/>
                </a:solidFill>
                <a:latin typeface="Calibri" pitchFamily="34" charset="0"/>
                <a:ea typeface="Calibri" pitchFamily="34" charset="-122"/>
                <a:cs typeface="Calibri" pitchFamily="34" charset="-120"/>
              </a:rPr>
              <a:t>Add a worker and their certs — issuer, dates, verification links, badge images, and the certificate PDF. Minutes, not paperwork.</a:t>
            </a:r>
            <a:endParaRPr lang="en-US" sz="1150" dirty="0"/>
          </a:p>
        </p:txBody>
      </p:sp>
      <p:sp>
        <p:nvSpPr>
          <p:cNvPr id="11" name="Shape 7"/>
          <p:cNvSpPr/>
          <p:nvPr/>
        </p:nvSpPr>
        <p:spPr>
          <a:xfrm>
            <a:off x="5669280" y="2286000"/>
            <a:ext cx="1051560" cy="1051560"/>
          </a:xfrm>
          <a:prstGeom prst="ellipse">
            <a:avLst/>
          </a:prstGeom>
          <a:solidFill>
            <a:srgbClr val="0C2540"/>
          </a:solidFill>
          <a:ln/>
        </p:spPr>
      </p:sp>
      <p:pic>
        <p:nvPicPr>
          <p:cNvPr id="12" name="Image 2" descr="/sessions/hopeful-pensive-planck/mnt/outputs/deck_build/icons/badge-white.png">    </p:cNvPr>
          <p:cNvPicPr>
            <a:picLocks noChangeAspect="1"/>
          </p:cNvPicPr>
          <p:nvPr/>
        </p:nvPicPr>
        <p:blipFill>
          <a:blip r:embed="rId3"/>
          <a:stretch>
            <a:fillRect/>
          </a:stretch>
        </p:blipFill>
        <p:spPr>
          <a:xfrm>
            <a:off x="5932170" y="2548890"/>
            <a:ext cx="525780" cy="525780"/>
          </a:xfrm>
          <a:prstGeom prst="rect">
            <a:avLst/>
          </a:prstGeom>
        </p:spPr>
      </p:pic>
      <p:sp>
        <p:nvSpPr>
          <p:cNvPr id="13" name="Shape 8"/>
          <p:cNvSpPr/>
          <p:nvPr/>
        </p:nvSpPr>
        <p:spPr>
          <a:xfrm>
            <a:off x="5650992" y="2267712"/>
            <a:ext cx="310896" cy="310896"/>
          </a:xfrm>
          <a:prstGeom prst="ellipse">
            <a:avLst/>
          </a:prstGeom>
          <a:solidFill>
            <a:srgbClr val="368C43"/>
          </a:solidFill>
          <a:ln w="25400">
            <a:solidFill>
              <a:srgbClr val="FFFFFF"/>
            </a:solidFill>
            <a:prstDash val="solid"/>
          </a:ln>
        </p:spPr>
      </p:sp>
      <p:sp>
        <p:nvSpPr>
          <p:cNvPr id="14" name="Text 9"/>
          <p:cNvSpPr/>
          <p:nvPr/>
        </p:nvSpPr>
        <p:spPr>
          <a:xfrm>
            <a:off x="5650992" y="22677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pic>
        <p:nvPicPr>
          <p:cNvPr id="15" name="Image 3" descr="/sessions/hopeful-pensive-planck/mnt/outputs/deck_build/icons/arrowright-navy.png">    </p:cNvPr>
          <p:cNvPicPr>
            <a:picLocks noChangeAspect="1"/>
          </p:cNvPicPr>
          <p:nvPr/>
        </p:nvPicPr>
        <p:blipFill>
          <a:blip r:embed="rId4"/>
          <a:stretch>
            <a:fillRect/>
          </a:stretch>
        </p:blipFill>
        <p:spPr>
          <a:xfrm>
            <a:off x="7891272" y="2647188"/>
            <a:ext cx="347472" cy="329184"/>
          </a:xfrm>
          <a:prstGeom prst="rect">
            <a:avLst/>
          </a:prstGeom>
        </p:spPr>
      </p:pic>
      <p:sp>
        <p:nvSpPr>
          <p:cNvPr id="16" name="Text 10"/>
          <p:cNvSpPr/>
          <p:nvPr/>
        </p:nvSpPr>
        <p:spPr>
          <a:xfrm>
            <a:off x="4572000" y="3611880"/>
            <a:ext cx="3246120" cy="457200"/>
          </a:xfrm>
          <a:prstGeom prst="rect">
            <a:avLst/>
          </a:prstGeom>
          <a:noFill/>
          <a:ln/>
        </p:spPr>
        <p:txBody>
          <a:bodyPr wrap="square" rtlCol="0" anchor="ctr"/>
          <a:lstStyle/>
          <a:p>
            <a:pPr algn="ctr" indent="0" marL="0">
              <a:buNone/>
            </a:pPr>
            <a:r>
              <a:rPr lang="en-US" sz="1500" b="1" dirty="0">
                <a:solidFill>
                  <a:srgbClr val="0C2540"/>
                </a:solidFill>
                <a:latin typeface="Calibri" pitchFamily="34" charset="0"/>
                <a:ea typeface="Calibri" pitchFamily="34" charset="-122"/>
                <a:cs typeface="Calibri" pitchFamily="34" charset="-120"/>
              </a:rPr>
              <a:t>Generate a QR badge</a:t>
            </a:r>
            <a:endParaRPr lang="en-US" sz="1500" dirty="0"/>
          </a:p>
        </p:txBody>
      </p:sp>
      <p:sp>
        <p:nvSpPr>
          <p:cNvPr id="17" name="Text 11"/>
          <p:cNvSpPr/>
          <p:nvPr/>
        </p:nvSpPr>
        <p:spPr>
          <a:xfrm>
            <a:off x="4572000" y="4069080"/>
            <a:ext cx="3246120" cy="1371600"/>
          </a:xfrm>
          <a:prstGeom prst="rect">
            <a:avLst/>
          </a:prstGeom>
          <a:noFill/>
          <a:ln/>
        </p:spPr>
        <p:txBody>
          <a:bodyPr wrap="square" rtlCol="0" anchor="ctr"/>
          <a:lstStyle/>
          <a:p>
            <a:pPr algn="ctr" indent="0" marL="0">
              <a:lnSpc>
                <a:spcPct val="130000"/>
              </a:lnSpc>
              <a:buNone/>
            </a:pPr>
            <a:r>
              <a:rPr lang="en-US" sz="1150" dirty="0">
                <a:solidFill>
                  <a:srgbClr val="4B5563"/>
                </a:solidFill>
                <a:latin typeface="Calibri" pitchFamily="34" charset="0"/>
                <a:ea typeface="Calibri" pitchFamily="34" charset="-122"/>
                <a:cs typeface="Calibri" pitchFamily="34" charset="-120"/>
              </a:rPr>
              <a:t>Every worker gets a shareable public link and QR code. Nothing to install, nothing for the worker to manage.</a:t>
            </a:r>
            <a:endParaRPr lang="en-US" sz="1150" dirty="0"/>
          </a:p>
        </p:txBody>
      </p:sp>
      <p:sp>
        <p:nvSpPr>
          <p:cNvPr id="18" name="Shape 12"/>
          <p:cNvSpPr/>
          <p:nvPr/>
        </p:nvSpPr>
        <p:spPr>
          <a:xfrm>
            <a:off x="9418320" y="2286000"/>
            <a:ext cx="1051560" cy="1051560"/>
          </a:xfrm>
          <a:prstGeom prst="ellipse">
            <a:avLst/>
          </a:prstGeom>
          <a:solidFill>
            <a:srgbClr val="368C43"/>
          </a:solidFill>
          <a:ln/>
        </p:spPr>
      </p:sp>
      <p:pic>
        <p:nvPicPr>
          <p:cNvPr id="19" name="Image 4" descr="/sessions/hopeful-pensive-planck/mnt/outputs/deck_build/icons/qrcode-white.png">    </p:cNvPr>
          <p:cNvPicPr>
            <a:picLocks noChangeAspect="1"/>
          </p:cNvPicPr>
          <p:nvPr/>
        </p:nvPicPr>
        <p:blipFill>
          <a:blip r:embed="rId5"/>
          <a:stretch>
            <a:fillRect/>
          </a:stretch>
        </p:blipFill>
        <p:spPr>
          <a:xfrm>
            <a:off x="9681210" y="2548890"/>
            <a:ext cx="525780" cy="525780"/>
          </a:xfrm>
          <a:prstGeom prst="rect">
            <a:avLst/>
          </a:prstGeom>
        </p:spPr>
      </p:pic>
      <p:sp>
        <p:nvSpPr>
          <p:cNvPr id="20" name="Shape 13"/>
          <p:cNvSpPr/>
          <p:nvPr/>
        </p:nvSpPr>
        <p:spPr>
          <a:xfrm>
            <a:off x="9400032" y="2267712"/>
            <a:ext cx="310896" cy="310896"/>
          </a:xfrm>
          <a:prstGeom prst="ellipse">
            <a:avLst/>
          </a:prstGeom>
          <a:solidFill>
            <a:srgbClr val="368C43"/>
          </a:solidFill>
          <a:ln w="25400">
            <a:solidFill>
              <a:srgbClr val="FFFFFF"/>
            </a:solidFill>
            <a:prstDash val="solid"/>
          </a:ln>
        </p:spPr>
      </p:sp>
      <p:sp>
        <p:nvSpPr>
          <p:cNvPr id="21" name="Text 14"/>
          <p:cNvSpPr/>
          <p:nvPr/>
        </p:nvSpPr>
        <p:spPr>
          <a:xfrm>
            <a:off x="9400032" y="22677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5"/>
          <p:cNvSpPr/>
          <p:nvPr/>
        </p:nvSpPr>
        <p:spPr>
          <a:xfrm>
            <a:off x="8321040" y="3611880"/>
            <a:ext cx="3246120" cy="457200"/>
          </a:xfrm>
          <a:prstGeom prst="rect">
            <a:avLst/>
          </a:prstGeom>
          <a:noFill/>
          <a:ln/>
        </p:spPr>
        <p:txBody>
          <a:bodyPr wrap="square" rtlCol="0" anchor="ctr"/>
          <a:lstStyle/>
          <a:p>
            <a:pPr algn="ctr" indent="0" marL="0">
              <a:buNone/>
            </a:pPr>
            <a:r>
              <a:rPr lang="en-US" sz="1500" b="1" dirty="0">
                <a:solidFill>
                  <a:srgbClr val="0C2540"/>
                </a:solidFill>
                <a:latin typeface="Calibri" pitchFamily="34" charset="0"/>
                <a:ea typeface="Calibri" pitchFamily="34" charset="-122"/>
                <a:cs typeface="Calibri" pitchFamily="34" charset="-120"/>
              </a:rPr>
              <a:t>Verify at the gate</a:t>
            </a:r>
            <a:endParaRPr lang="en-US" sz="1500" dirty="0"/>
          </a:p>
        </p:txBody>
      </p:sp>
      <p:sp>
        <p:nvSpPr>
          <p:cNvPr id="23" name="Text 16"/>
          <p:cNvSpPr/>
          <p:nvPr/>
        </p:nvSpPr>
        <p:spPr>
          <a:xfrm>
            <a:off x="8321040" y="4069080"/>
            <a:ext cx="3246120" cy="1371600"/>
          </a:xfrm>
          <a:prstGeom prst="rect">
            <a:avLst/>
          </a:prstGeom>
          <a:noFill/>
          <a:ln/>
        </p:spPr>
        <p:txBody>
          <a:bodyPr wrap="square" rtlCol="0" anchor="ctr"/>
          <a:lstStyle/>
          <a:p>
            <a:pPr algn="ctr" indent="0" marL="0">
              <a:lnSpc>
                <a:spcPct val="130000"/>
              </a:lnSpc>
              <a:buNone/>
            </a:pPr>
            <a:r>
              <a:rPr lang="en-US" sz="1150" dirty="0">
                <a:solidFill>
                  <a:srgbClr val="4B5563"/>
                </a:solidFill>
                <a:latin typeface="Calibri" pitchFamily="34" charset="0"/>
                <a:ea typeface="Calibri" pitchFamily="34" charset="-122"/>
                <a:cs typeface="Calibri" pitchFamily="34" charset="-120"/>
              </a:rPr>
              <a:t>Anyone with a phone camera scans and sees current status in seconds — no login, no app, no call back to the office.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4"/>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THE PLATFORM</a:t>
            </a:r>
            <a:endParaRPr lang="en-US" sz="1200" dirty="0"/>
          </a:p>
        </p:txBody>
      </p:sp>
      <p:sp>
        <p:nvSpPr>
          <p:cNvPr id="3" name="Text 1"/>
          <p:cNvSpPr/>
          <p:nvPr/>
        </p:nvSpPr>
        <p:spPr>
          <a:xfrm>
            <a:off x="548640" y="777240"/>
            <a:ext cx="11064240" cy="640080"/>
          </a:xfrm>
          <a:prstGeom prst="rect">
            <a:avLst/>
          </a:prstGeom>
          <a:noFill/>
          <a:ln/>
        </p:spPr>
        <p:txBody>
          <a:bodyPr wrap="square" rtlCol="0" anchor="ctr"/>
          <a:lstStyle/>
          <a:p>
            <a:pPr indent="0" marL="0">
              <a:buNone/>
            </a:pPr>
            <a:r>
              <a:rPr lang="en-US" sz="3000" b="1" dirty="0">
                <a:solidFill>
                  <a:srgbClr val="0C2540"/>
                </a:solidFill>
                <a:latin typeface="Calibri" pitchFamily="34" charset="0"/>
                <a:ea typeface="Calibri" pitchFamily="34" charset="-122"/>
                <a:cs typeface="Calibri" pitchFamily="34" charset="-120"/>
              </a:rPr>
              <a:t>Everything your compliance team needs.</a:t>
            </a:r>
            <a:endParaRPr lang="en-US" sz="3000" dirty="0"/>
          </a:p>
        </p:txBody>
      </p:sp>
      <p:sp>
        <p:nvSpPr>
          <p:cNvPr id="4" name="Shape 2"/>
          <p:cNvSpPr/>
          <p:nvPr/>
        </p:nvSpPr>
        <p:spPr>
          <a:xfrm>
            <a:off x="548640" y="1828800"/>
            <a:ext cx="3566160" cy="1737360"/>
          </a:xfrm>
          <a:prstGeom prst="roundRect">
            <a:avLst>
              <a:gd name="adj" fmla="val 3684"/>
            </a:avLst>
          </a:prstGeom>
          <a:solidFill>
            <a:srgbClr val="FFFFFF"/>
          </a:solidFill>
          <a:ln/>
        </p:spPr>
      </p:sp>
      <p:sp>
        <p:nvSpPr>
          <p:cNvPr id="5" name="Shape 3"/>
          <p:cNvSpPr/>
          <p:nvPr/>
        </p:nvSpPr>
        <p:spPr>
          <a:xfrm>
            <a:off x="804672" y="2084832"/>
            <a:ext cx="548640" cy="548640"/>
          </a:xfrm>
          <a:prstGeom prst="ellipse">
            <a:avLst/>
          </a:prstGeom>
          <a:solidFill>
            <a:srgbClr val="F3F5F4"/>
          </a:solidFill>
          <a:ln/>
        </p:spPr>
      </p:sp>
      <p:pic>
        <p:nvPicPr>
          <p:cNvPr id="6" name="Image 0" descr="/sessions/hopeful-pensive-planck/mnt/outputs/deck_build/icons/search-green.png">    </p:cNvPr>
          <p:cNvPicPr>
            <a:picLocks noChangeAspect="1"/>
          </p:cNvPicPr>
          <p:nvPr/>
        </p:nvPicPr>
        <p:blipFill>
          <a:blip r:embed="rId1"/>
          <a:stretch>
            <a:fillRect/>
          </a:stretch>
        </p:blipFill>
        <p:spPr>
          <a:xfrm>
            <a:off x="928116" y="2208276"/>
            <a:ext cx="301752" cy="301752"/>
          </a:xfrm>
          <a:prstGeom prst="rect">
            <a:avLst/>
          </a:prstGeom>
        </p:spPr>
      </p:pic>
      <p:sp>
        <p:nvSpPr>
          <p:cNvPr id="7" name="Text 4"/>
          <p:cNvSpPr/>
          <p:nvPr/>
        </p:nvSpPr>
        <p:spPr>
          <a:xfrm>
            <a:off x="1508760" y="2029968"/>
            <a:ext cx="2377440" cy="365760"/>
          </a:xfrm>
          <a:prstGeom prst="rect">
            <a:avLst/>
          </a:prstGeom>
          <a:noFill/>
          <a:ln/>
        </p:spPr>
        <p:txBody>
          <a:bodyPr wrap="square" rtlCol="0" anchor="ctr"/>
          <a:lstStyle/>
          <a:p>
            <a:pPr indent="0" marL="0">
              <a:buNone/>
            </a:pPr>
            <a:r>
              <a:rPr lang="en-US" sz="1300" b="1" dirty="0">
                <a:solidFill>
                  <a:srgbClr val="0C2540"/>
                </a:solidFill>
                <a:latin typeface="Calibri" pitchFamily="34" charset="0"/>
                <a:ea typeface="Calibri" pitchFamily="34" charset="-122"/>
                <a:cs typeface="Calibri" pitchFamily="34" charset="-120"/>
              </a:rPr>
              <a:t>Workforce directory</a:t>
            </a:r>
            <a:endParaRPr lang="en-US" sz="1300" dirty="0"/>
          </a:p>
        </p:txBody>
      </p:sp>
      <p:sp>
        <p:nvSpPr>
          <p:cNvPr id="8" name="Text 5"/>
          <p:cNvSpPr/>
          <p:nvPr/>
        </p:nvSpPr>
        <p:spPr>
          <a:xfrm>
            <a:off x="804672" y="2697480"/>
            <a:ext cx="3054096" cy="777240"/>
          </a:xfrm>
          <a:prstGeom prst="rect">
            <a:avLst/>
          </a:prstGeom>
          <a:noFill/>
          <a:ln/>
        </p:spPr>
        <p:txBody>
          <a:bodyPr wrap="square" rtlCol="0" anchor="ctr"/>
          <a:lstStyle/>
          <a:p>
            <a:pPr indent="0" marL="0">
              <a:lnSpc>
                <a:spcPct val="120000"/>
              </a:lnSpc>
              <a:buNone/>
            </a:pPr>
            <a:r>
              <a:rPr lang="en-US" sz="1030" dirty="0">
                <a:solidFill>
                  <a:srgbClr val="4B5563"/>
                </a:solidFill>
                <a:latin typeface="Calibri" pitchFamily="34" charset="0"/>
                <a:ea typeface="Calibri" pitchFamily="34" charset="-122"/>
                <a:cs typeface="Calibri" pitchFamily="34" charset="-120"/>
              </a:rPr>
              <a:t>Search and filter the entire crew by name, skill, or certification.</a:t>
            </a:r>
            <a:endParaRPr lang="en-US" sz="1030" dirty="0"/>
          </a:p>
        </p:txBody>
      </p:sp>
      <p:sp>
        <p:nvSpPr>
          <p:cNvPr id="9" name="Shape 6"/>
          <p:cNvSpPr/>
          <p:nvPr/>
        </p:nvSpPr>
        <p:spPr>
          <a:xfrm>
            <a:off x="4370832" y="1828800"/>
            <a:ext cx="3566160" cy="1737360"/>
          </a:xfrm>
          <a:prstGeom prst="roundRect">
            <a:avLst>
              <a:gd name="adj" fmla="val 3684"/>
            </a:avLst>
          </a:prstGeom>
          <a:solidFill>
            <a:srgbClr val="FFFFFF"/>
          </a:solidFill>
          <a:ln/>
        </p:spPr>
      </p:sp>
      <p:sp>
        <p:nvSpPr>
          <p:cNvPr id="10" name="Shape 7"/>
          <p:cNvSpPr/>
          <p:nvPr/>
        </p:nvSpPr>
        <p:spPr>
          <a:xfrm>
            <a:off x="4626864" y="2084832"/>
            <a:ext cx="548640" cy="548640"/>
          </a:xfrm>
          <a:prstGeom prst="ellipse">
            <a:avLst/>
          </a:prstGeom>
          <a:solidFill>
            <a:srgbClr val="F3F5F4"/>
          </a:solidFill>
          <a:ln/>
        </p:spPr>
      </p:sp>
      <p:pic>
        <p:nvPicPr>
          <p:cNvPr id="11" name="Image 1" descr="/sessions/hopeful-pensive-planck/mnt/outputs/deck_build/icons/hardhat-green.png">    </p:cNvPr>
          <p:cNvPicPr>
            <a:picLocks noChangeAspect="1"/>
          </p:cNvPicPr>
          <p:nvPr/>
        </p:nvPicPr>
        <p:blipFill>
          <a:blip r:embed="rId2"/>
          <a:stretch>
            <a:fillRect/>
          </a:stretch>
        </p:blipFill>
        <p:spPr>
          <a:xfrm>
            <a:off x="4750308" y="2208276"/>
            <a:ext cx="301752" cy="301752"/>
          </a:xfrm>
          <a:prstGeom prst="rect">
            <a:avLst/>
          </a:prstGeom>
        </p:spPr>
      </p:pic>
      <p:sp>
        <p:nvSpPr>
          <p:cNvPr id="12" name="Text 8"/>
          <p:cNvSpPr/>
          <p:nvPr/>
        </p:nvSpPr>
        <p:spPr>
          <a:xfrm>
            <a:off x="5330952" y="2029968"/>
            <a:ext cx="2377440" cy="365760"/>
          </a:xfrm>
          <a:prstGeom prst="rect">
            <a:avLst/>
          </a:prstGeom>
          <a:noFill/>
          <a:ln/>
        </p:spPr>
        <p:txBody>
          <a:bodyPr wrap="square" rtlCol="0" anchor="ctr"/>
          <a:lstStyle/>
          <a:p>
            <a:pPr indent="0" marL="0">
              <a:buNone/>
            </a:pPr>
            <a:r>
              <a:rPr lang="en-US" sz="1300" b="1" dirty="0">
                <a:solidFill>
                  <a:srgbClr val="0C2540"/>
                </a:solidFill>
                <a:latin typeface="Calibri" pitchFamily="34" charset="0"/>
                <a:ea typeface="Calibri" pitchFamily="34" charset="-122"/>
                <a:cs typeface="Calibri" pitchFamily="34" charset="-120"/>
              </a:rPr>
              <a:t>Worker profiles</a:t>
            </a:r>
            <a:endParaRPr lang="en-US" sz="1300" dirty="0"/>
          </a:p>
        </p:txBody>
      </p:sp>
      <p:sp>
        <p:nvSpPr>
          <p:cNvPr id="13" name="Text 9"/>
          <p:cNvSpPr/>
          <p:nvPr/>
        </p:nvSpPr>
        <p:spPr>
          <a:xfrm>
            <a:off x="4626864" y="2697480"/>
            <a:ext cx="3054096" cy="777240"/>
          </a:xfrm>
          <a:prstGeom prst="rect">
            <a:avLst/>
          </a:prstGeom>
          <a:noFill/>
          <a:ln/>
        </p:spPr>
        <p:txBody>
          <a:bodyPr wrap="square" rtlCol="0" anchor="ctr"/>
          <a:lstStyle/>
          <a:p>
            <a:pPr indent="0" marL="0">
              <a:lnSpc>
                <a:spcPct val="120000"/>
              </a:lnSpc>
              <a:buNone/>
            </a:pPr>
            <a:r>
              <a:rPr lang="en-US" sz="1030" dirty="0">
                <a:solidFill>
                  <a:srgbClr val="4B5563"/>
                </a:solidFill>
                <a:latin typeface="Calibri" pitchFamily="34" charset="0"/>
                <a:ea typeface="Calibri" pitchFamily="34" charset="-122"/>
                <a:cs typeface="Calibri" pitchFamily="34" charset="-120"/>
              </a:rPr>
              <a:t>Photo, role, department, skills, and full certification history — color-coded valid, expiring, or expired.</a:t>
            </a:r>
            <a:endParaRPr lang="en-US" sz="1030" dirty="0"/>
          </a:p>
        </p:txBody>
      </p:sp>
      <p:sp>
        <p:nvSpPr>
          <p:cNvPr id="14" name="Shape 10"/>
          <p:cNvSpPr/>
          <p:nvPr/>
        </p:nvSpPr>
        <p:spPr>
          <a:xfrm>
            <a:off x="8193024" y="1828800"/>
            <a:ext cx="3566160" cy="1737360"/>
          </a:xfrm>
          <a:prstGeom prst="roundRect">
            <a:avLst>
              <a:gd name="adj" fmla="val 3684"/>
            </a:avLst>
          </a:prstGeom>
          <a:solidFill>
            <a:srgbClr val="FFFFFF"/>
          </a:solidFill>
          <a:ln/>
        </p:spPr>
      </p:sp>
      <p:sp>
        <p:nvSpPr>
          <p:cNvPr id="15" name="Shape 11"/>
          <p:cNvSpPr/>
          <p:nvPr/>
        </p:nvSpPr>
        <p:spPr>
          <a:xfrm>
            <a:off x="8449056" y="2084832"/>
            <a:ext cx="548640" cy="548640"/>
          </a:xfrm>
          <a:prstGeom prst="ellipse">
            <a:avLst/>
          </a:prstGeom>
          <a:solidFill>
            <a:srgbClr val="F3F5F4"/>
          </a:solidFill>
          <a:ln/>
        </p:spPr>
      </p:sp>
      <p:pic>
        <p:nvPicPr>
          <p:cNvPr id="16" name="Image 2" descr="/sessions/hopeful-pensive-planck/mnt/outputs/deck_build/icons/qrcode-green.png">    </p:cNvPr>
          <p:cNvPicPr>
            <a:picLocks noChangeAspect="1"/>
          </p:cNvPicPr>
          <p:nvPr/>
        </p:nvPicPr>
        <p:blipFill>
          <a:blip r:embed="rId3"/>
          <a:stretch>
            <a:fillRect/>
          </a:stretch>
        </p:blipFill>
        <p:spPr>
          <a:xfrm>
            <a:off x="8572500" y="2208276"/>
            <a:ext cx="301752" cy="301752"/>
          </a:xfrm>
          <a:prstGeom prst="rect">
            <a:avLst/>
          </a:prstGeom>
        </p:spPr>
      </p:pic>
      <p:sp>
        <p:nvSpPr>
          <p:cNvPr id="17" name="Text 12"/>
          <p:cNvSpPr/>
          <p:nvPr/>
        </p:nvSpPr>
        <p:spPr>
          <a:xfrm>
            <a:off x="9153144" y="2029968"/>
            <a:ext cx="2377440" cy="365760"/>
          </a:xfrm>
          <a:prstGeom prst="rect">
            <a:avLst/>
          </a:prstGeom>
          <a:noFill/>
          <a:ln/>
        </p:spPr>
        <p:txBody>
          <a:bodyPr wrap="square" rtlCol="0" anchor="ctr"/>
          <a:lstStyle/>
          <a:p>
            <a:pPr indent="0" marL="0">
              <a:buNone/>
            </a:pPr>
            <a:r>
              <a:rPr lang="en-US" sz="1300" b="1" dirty="0">
                <a:solidFill>
                  <a:srgbClr val="0C2540"/>
                </a:solidFill>
                <a:latin typeface="Calibri" pitchFamily="34" charset="0"/>
                <a:ea typeface="Calibri" pitchFamily="34" charset="-122"/>
                <a:cs typeface="Calibri" pitchFamily="34" charset="-120"/>
              </a:rPr>
              <a:t>Instant QR verification</a:t>
            </a:r>
            <a:endParaRPr lang="en-US" sz="1300" dirty="0"/>
          </a:p>
        </p:txBody>
      </p:sp>
      <p:sp>
        <p:nvSpPr>
          <p:cNvPr id="18" name="Text 13"/>
          <p:cNvSpPr/>
          <p:nvPr/>
        </p:nvSpPr>
        <p:spPr>
          <a:xfrm>
            <a:off x="8449056" y="2697480"/>
            <a:ext cx="3054096" cy="777240"/>
          </a:xfrm>
          <a:prstGeom prst="rect">
            <a:avLst/>
          </a:prstGeom>
          <a:noFill/>
          <a:ln/>
        </p:spPr>
        <p:txBody>
          <a:bodyPr wrap="square" rtlCol="0" anchor="ctr"/>
          <a:lstStyle/>
          <a:p>
            <a:pPr indent="0" marL="0">
              <a:lnSpc>
                <a:spcPct val="120000"/>
              </a:lnSpc>
              <a:buNone/>
            </a:pPr>
            <a:r>
              <a:rPr lang="en-US" sz="1030" dirty="0">
                <a:solidFill>
                  <a:srgbClr val="4B5563"/>
                </a:solidFill>
                <a:latin typeface="Calibri" pitchFamily="34" charset="0"/>
                <a:ea typeface="Calibri" pitchFamily="34" charset="-122"/>
                <a:cs typeface="Calibri" pitchFamily="34" charset="-120"/>
              </a:rPr>
              <a:t>Turn any profile into a public link and QR code. No login, no app, no phone call.</a:t>
            </a:r>
            <a:endParaRPr lang="en-US" sz="1030" dirty="0"/>
          </a:p>
        </p:txBody>
      </p:sp>
      <p:sp>
        <p:nvSpPr>
          <p:cNvPr id="19" name="Shape 14"/>
          <p:cNvSpPr/>
          <p:nvPr/>
        </p:nvSpPr>
        <p:spPr>
          <a:xfrm>
            <a:off x="548640" y="3840480"/>
            <a:ext cx="3566160" cy="1737360"/>
          </a:xfrm>
          <a:prstGeom prst="roundRect">
            <a:avLst>
              <a:gd name="adj" fmla="val 3684"/>
            </a:avLst>
          </a:prstGeom>
          <a:solidFill>
            <a:srgbClr val="FFFFFF"/>
          </a:solidFill>
          <a:ln/>
        </p:spPr>
      </p:sp>
      <p:sp>
        <p:nvSpPr>
          <p:cNvPr id="20" name="Shape 15"/>
          <p:cNvSpPr/>
          <p:nvPr/>
        </p:nvSpPr>
        <p:spPr>
          <a:xfrm>
            <a:off x="804672" y="4096512"/>
            <a:ext cx="548640" cy="548640"/>
          </a:xfrm>
          <a:prstGeom prst="ellipse">
            <a:avLst/>
          </a:prstGeom>
          <a:solidFill>
            <a:srgbClr val="F3F5F4"/>
          </a:solidFill>
          <a:ln/>
        </p:spPr>
      </p:sp>
      <p:pic>
        <p:nvPicPr>
          <p:cNvPr id="21" name="Image 3" descr="/sessions/hopeful-pensive-planck/mnt/outputs/deck_build/icons/chartbar-green.png">    </p:cNvPr>
          <p:cNvPicPr>
            <a:picLocks noChangeAspect="1"/>
          </p:cNvPicPr>
          <p:nvPr/>
        </p:nvPicPr>
        <p:blipFill>
          <a:blip r:embed="rId4"/>
          <a:stretch>
            <a:fillRect/>
          </a:stretch>
        </p:blipFill>
        <p:spPr>
          <a:xfrm>
            <a:off x="928116" y="4219956"/>
            <a:ext cx="301752" cy="301752"/>
          </a:xfrm>
          <a:prstGeom prst="rect">
            <a:avLst/>
          </a:prstGeom>
        </p:spPr>
      </p:pic>
      <p:sp>
        <p:nvSpPr>
          <p:cNvPr id="22" name="Text 16"/>
          <p:cNvSpPr/>
          <p:nvPr/>
        </p:nvSpPr>
        <p:spPr>
          <a:xfrm>
            <a:off x="1508760" y="4041648"/>
            <a:ext cx="2377440" cy="365760"/>
          </a:xfrm>
          <a:prstGeom prst="rect">
            <a:avLst/>
          </a:prstGeom>
          <a:noFill/>
          <a:ln/>
        </p:spPr>
        <p:txBody>
          <a:bodyPr wrap="square" rtlCol="0" anchor="ctr"/>
          <a:lstStyle/>
          <a:p>
            <a:pPr indent="0" marL="0">
              <a:buNone/>
            </a:pPr>
            <a:r>
              <a:rPr lang="en-US" sz="1300" b="1" dirty="0">
                <a:solidFill>
                  <a:srgbClr val="0C2540"/>
                </a:solidFill>
                <a:latin typeface="Calibri" pitchFamily="34" charset="0"/>
                <a:ea typeface="Calibri" pitchFamily="34" charset="-122"/>
                <a:cs typeface="Calibri" pitchFamily="34" charset="-120"/>
              </a:rPr>
              <a:t>Admin compliance dashboard</a:t>
            </a:r>
            <a:endParaRPr lang="en-US" sz="1300" dirty="0"/>
          </a:p>
        </p:txBody>
      </p:sp>
      <p:sp>
        <p:nvSpPr>
          <p:cNvPr id="23" name="Text 17"/>
          <p:cNvSpPr/>
          <p:nvPr/>
        </p:nvSpPr>
        <p:spPr>
          <a:xfrm>
            <a:off x="804672" y="4709160"/>
            <a:ext cx="3054096" cy="777240"/>
          </a:xfrm>
          <a:prstGeom prst="rect">
            <a:avLst/>
          </a:prstGeom>
          <a:noFill/>
          <a:ln/>
        </p:spPr>
        <p:txBody>
          <a:bodyPr wrap="square" rtlCol="0" anchor="ctr"/>
          <a:lstStyle/>
          <a:p>
            <a:pPr indent="0" marL="0">
              <a:lnSpc>
                <a:spcPct val="120000"/>
              </a:lnSpc>
              <a:buNone/>
            </a:pPr>
            <a:r>
              <a:rPr lang="en-US" sz="1030" dirty="0">
                <a:solidFill>
                  <a:srgbClr val="4B5563"/>
                </a:solidFill>
                <a:latin typeface="Calibri" pitchFamily="34" charset="0"/>
                <a:ea typeface="Calibri" pitchFamily="34" charset="-122"/>
                <a:cs typeface="Calibri" pitchFamily="34" charset="-120"/>
              </a:rPr>
              <a:t>Company-wide view of who’s expiring, expired, and missing, with CSV export for audits.</a:t>
            </a:r>
            <a:endParaRPr lang="en-US" sz="1030" dirty="0"/>
          </a:p>
        </p:txBody>
      </p:sp>
      <p:sp>
        <p:nvSpPr>
          <p:cNvPr id="24" name="Shape 18"/>
          <p:cNvSpPr/>
          <p:nvPr/>
        </p:nvSpPr>
        <p:spPr>
          <a:xfrm>
            <a:off x="4370832" y="3840480"/>
            <a:ext cx="3566160" cy="1737360"/>
          </a:xfrm>
          <a:prstGeom prst="roundRect">
            <a:avLst>
              <a:gd name="adj" fmla="val 3684"/>
            </a:avLst>
          </a:prstGeom>
          <a:solidFill>
            <a:srgbClr val="FFFFFF"/>
          </a:solidFill>
          <a:ln/>
        </p:spPr>
      </p:sp>
      <p:sp>
        <p:nvSpPr>
          <p:cNvPr id="25" name="Shape 19"/>
          <p:cNvSpPr/>
          <p:nvPr/>
        </p:nvSpPr>
        <p:spPr>
          <a:xfrm>
            <a:off x="4626864" y="4096512"/>
            <a:ext cx="548640" cy="548640"/>
          </a:xfrm>
          <a:prstGeom prst="ellipse">
            <a:avLst/>
          </a:prstGeom>
          <a:solidFill>
            <a:srgbClr val="F3F5F4"/>
          </a:solidFill>
          <a:ln/>
        </p:spPr>
      </p:sp>
      <p:pic>
        <p:nvPicPr>
          <p:cNvPr id="26" name="Image 4" descr="/sessions/hopeful-pensive-planck/mnt/outputs/deck_build/icons/database-green.png">    </p:cNvPr>
          <p:cNvPicPr>
            <a:picLocks noChangeAspect="1"/>
          </p:cNvPicPr>
          <p:nvPr/>
        </p:nvPicPr>
        <p:blipFill>
          <a:blip r:embed="rId5"/>
          <a:stretch>
            <a:fillRect/>
          </a:stretch>
        </p:blipFill>
        <p:spPr>
          <a:xfrm>
            <a:off x="4750308" y="4219956"/>
            <a:ext cx="301752" cy="301752"/>
          </a:xfrm>
          <a:prstGeom prst="rect">
            <a:avLst/>
          </a:prstGeom>
        </p:spPr>
      </p:pic>
      <p:sp>
        <p:nvSpPr>
          <p:cNvPr id="27" name="Text 20"/>
          <p:cNvSpPr/>
          <p:nvPr/>
        </p:nvSpPr>
        <p:spPr>
          <a:xfrm>
            <a:off x="5330952" y="4041648"/>
            <a:ext cx="2377440" cy="365760"/>
          </a:xfrm>
          <a:prstGeom prst="rect">
            <a:avLst/>
          </a:prstGeom>
          <a:noFill/>
          <a:ln/>
        </p:spPr>
        <p:txBody>
          <a:bodyPr wrap="square" rtlCol="0" anchor="ctr"/>
          <a:lstStyle/>
          <a:p>
            <a:pPr indent="0" marL="0">
              <a:buNone/>
            </a:pPr>
            <a:r>
              <a:rPr lang="en-US" sz="1300" b="1" dirty="0">
                <a:solidFill>
                  <a:srgbClr val="0C2540"/>
                </a:solidFill>
                <a:latin typeface="Calibri" pitchFamily="34" charset="0"/>
                <a:ea typeface="Calibri" pitchFamily="34" charset="-122"/>
                <a:cs typeface="Calibri" pitchFamily="34" charset="-120"/>
              </a:rPr>
              <a:t>Data isolation</a:t>
            </a:r>
            <a:endParaRPr lang="en-US" sz="1300" dirty="0"/>
          </a:p>
        </p:txBody>
      </p:sp>
      <p:sp>
        <p:nvSpPr>
          <p:cNvPr id="28" name="Text 21"/>
          <p:cNvSpPr/>
          <p:nvPr/>
        </p:nvSpPr>
        <p:spPr>
          <a:xfrm>
            <a:off x="4626864" y="4709160"/>
            <a:ext cx="3054096" cy="777240"/>
          </a:xfrm>
          <a:prstGeom prst="rect">
            <a:avLst/>
          </a:prstGeom>
          <a:noFill/>
          <a:ln/>
        </p:spPr>
        <p:txBody>
          <a:bodyPr wrap="square" rtlCol="0" anchor="ctr"/>
          <a:lstStyle/>
          <a:p>
            <a:pPr indent="0" marL="0">
              <a:lnSpc>
                <a:spcPct val="120000"/>
              </a:lnSpc>
              <a:buNone/>
            </a:pPr>
            <a:r>
              <a:rPr lang="en-US" sz="1030" dirty="0">
                <a:solidFill>
                  <a:srgbClr val="4B5563"/>
                </a:solidFill>
                <a:latin typeface="Calibri" pitchFamily="34" charset="0"/>
                <a:ea typeface="Calibri" pitchFamily="34" charset="-122"/>
                <a:cs typeface="Calibri" pitchFamily="34" charset="-120"/>
              </a:rPr>
              <a:t>Each client company gets a fully separate, private database — never mixed with another’s.</a:t>
            </a:r>
            <a:endParaRPr lang="en-US" sz="1030" dirty="0"/>
          </a:p>
        </p:txBody>
      </p:sp>
      <p:sp>
        <p:nvSpPr>
          <p:cNvPr id="29" name="Shape 22"/>
          <p:cNvSpPr/>
          <p:nvPr/>
        </p:nvSpPr>
        <p:spPr>
          <a:xfrm>
            <a:off x="8193024" y="3840480"/>
            <a:ext cx="3566160" cy="1737360"/>
          </a:xfrm>
          <a:prstGeom prst="roundRect">
            <a:avLst>
              <a:gd name="adj" fmla="val 3684"/>
            </a:avLst>
          </a:prstGeom>
          <a:solidFill>
            <a:srgbClr val="FFFFFF"/>
          </a:solidFill>
          <a:ln/>
        </p:spPr>
      </p:sp>
      <p:sp>
        <p:nvSpPr>
          <p:cNvPr id="30" name="Shape 23"/>
          <p:cNvSpPr/>
          <p:nvPr/>
        </p:nvSpPr>
        <p:spPr>
          <a:xfrm>
            <a:off x="8449056" y="4096512"/>
            <a:ext cx="548640" cy="548640"/>
          </a:xfrm>
          <a:prstGeom prst="ellipse">
            <a:avLst/>
          </a:prstGeom>
          <a:solidFill>
            <a:srgbClr val="F3F5F4"/>
          </a:solidFill>
          <a:ln/>
        </p:spPr>
      </p:sp>
      <p:pic>
        <p:nvPicPr>
          <p:cNvPr id="31" name="Image 5" descr="/sessions/hopeful-pensive-planck/mnt/outputs/deck_build/icons/fileexport-green.png">    </p:cNvPr>
          <p:cNvPicPr>
            <a:picLocks noChangeAspect="1"/>
          </p:cNvPicPr>
          <p:nvPr/>
        </p:nvPicPr>
        <p:blipFill>
          <a:blip r:embed="rId6"/>
          <a:stretch>
            <a:fillRect/>
          </a:stretch>
        </p:blipFill>
        <p:spPr>
          <a:xfrm>
            <a:off x="8572500" y="4219956"/>
            <a:ext cx="301752" cy="301752"/>
          </a:xfrm>
          <a:prstGeom prst="rect">
            <a:avLst/>
          </a:prstGeom>
        </p:spPr>
      </p:pic>
      <p:sp>
        <p:nvSpPr>
          <p:cNvPr id="32" name="Text 24"/>
          <p:cNvSpPr/>
          <p:nvPr/>
        </p:nvSpPr>
        <p:spPr>
          <a:xfrm>
            <a:off x="9153144" y="4041648"/>
            <a:ext cx="2377440" cy="365760"/>
          </a:xfrm>
          <a:prstGeom prst="rect">
            <a:avLst/>
          </a:prstGeom>
          <a:noFill/>
          <a:ln/>
        </p:spPr>
        <p:txBody>
          <a:bodyPr wrap="square" rtlCol="0" anchor="ctr"/>
          <a:lstStyle/>
          <a:p>
            <a:pPr indent="0" marL="0">
              <a:buNone/>
            </a:pPr>
            <a:r>
              <a:rPr lang="en-US" sz="1300" b="1" dirty="0">
                <a:solidFill>
                  <a:srgbClr val="0C2540"/>
                </a:solidFill>
                <a:latin typeface="Calibri" pitchFamily="34" charset="0"/>
                <a:ea typeface="Calibri" pitchFamily="34" charset="-122"/>
                <a:cs typeface="Calibri" pitchFamily="34" charset="-120"/>
              </a:rPr>
              <a:t>Audit-ready exports</a:t>
            </a:r>
            <a:endParaRPr lang="en-US" sz="1300" dirty="0"/>
          </a:p>
        </p:txBody>
      </p:sp>
      <p:sp>
        <p:nvSpPr>
          <p:cNvPr id="33" name="Text 25"/>
          <p:cNvSpPr/>
          <p:nvPr/>
        </p:nvSpPr>
        <p:spPr>
          <a:xfrm>
            <a:off x="8449056" y="4709160"/>
            <a:ext cx="3054096" cy="777240"/>
          </a:xfrm>
          <a:prstGeom prst="rect">
            <a:avLst/>
          </a:prstGeom>
          <a:noFill/>
          <a:ln/>
        </p:spPr>
        <p:txBody>
          <a:bodyPr wrap="square" rtlCol="0" anchor="ctr"/>
          <a:lstStyle/>
          <a:p>
            <a:pPr indent="0" marL="0">
              <a:lnSpc>
                <a:spcPct val="120000"/>
              </a:lnSpc>
              <a:buNone/>
            </a:pPr>
            <a:r>
              <a:rPr lang="en-US" sz="1030" dirty="0">
                <a:solidFill>
                  <a:srgbClr val="4B5563"/>
                </a:solidFill>
                <a:latin typeface="Calibri" pitchFamily="34" charset="0"/>
                <a:ea typeface="Calibri" pitchFamily="34" charset="-122"/>
                <a:cs typeface="Calibri" pitchFamily="34" charset="-120"/>
              </a:rPr>
              <a:t>Certificate files attached to every record. Export by department, site, or credential type.</a:t>
            </a:r>
            <a:endParaRPr lang="en-US" sz="10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254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SECURITY &amp; DATA ISOLATION</a:t>
            </a:r>
            <a:endParaRPr lang="en-US" sz="1200" dirty="0"/>
          </a:p>
        </p:txBody>
      </p:sp>
      <p:sp>
        <p:nvSpPr>
          <p:cNvPr id="3" name="Text 1"/>
          <p:cNvSpPr/>
          <p:nvPr/>
        </p:nvSpPr>
        <p:spPr>
          <a:xfrm>
            <a:off x="548640" y="777240"/>
            <a:ext cx="1106424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Private by default. Public only when you say so.</a:t>
            </a:r>
            <a:endParaRPr lang="en-US" sz="2800" dirty="0"/>
          </a:p>
        </p:txBody>
      </p:sp>
      <p:sp>
        <p:nvSpPr>
          <p:cNvPr id="4" name="Text 2"/>
          <p:cNvSpPr/>
          <p:nvPr/>
        </p:nvSpPr>
        <p:spPr>
          <a:xfrm>
            <a:off x="548640" y="1463040"/>
            <a:ext cx="11064240" cy="548640"/>
          </a:xfrm>
          <a:prstGeom prst="rect">
            <a:avLst/>
          </a:prstGeom>
          <a:noFill/>
          <a:ln/>
        </p:spPr>
        <p:txBody>
          <a:bodyPr wrap="square" rtlCol="0" anchor="ctr"/>
          <a:lstStyle/>
          <a:p>
            <a:pPr indent="0" marL="0">
              <a:lnSpc>
                <a:spcPct val="125000"/>
              </a:lnSpc>
              <a:buNone/>
            </a:pPr>
            <a:r>
              <a:rPr lang="en-US" sz="1250" dirty="0">
                <a:solidFill>
                  <a:srgbClr val="CBD8D0"/>
                </a:solidFill>
                <a:latin typeface="Calibri" pitchFamily="34" charset="0"/>
                <a:ea typeface="Calibri" pitchFamily="34" charset="-122"/>
                <a:cs typeface="Calibri" pitchFamily="34" charset="-120"/>
              </a:rPr>
              <a:t>Full worker data stays in your private, company-isolated database. The public QR page exposes only what’s needed to verify — never contact details or the underlying account.</a:t>
            </a:r>
            <a:endParaRPr lang="en-US" sz="1250" dirty="0"/>
          </a:p>
        </p:txBody>
      </p:sp>
      <p:sp>
        <p:nvSpPr>
          <p:cNvPr id="5" name="Shape 3"/>
          <p:cNvSpPr/>
          <p:nvPr/>
        </p:nvSpPr>
        <p:spPr>
          <a:xfrm>
            <a:off x="548640" y="2331720"/>
            <a:ext cx="5364328" cy="3840480"/>
          </a:xfrm>
          <a:prstGeom prst="roundRect">
            <a:avLst>
              <a:gd name="adj" fmla="val 1905"/>
            </a:avLst>
          </a:prstGeom>
          <a:solidFill>
            <a:srgbClr val="15355C"/>
          </a:solidFill>
          <a:ln/>
        </p:spPr>
      </p:sp>
      <p:sp>
        <p:nvSpPr>
          <p:cNvPr id="6" name="Shape 4"/>
          <p:cNvSpPr/>
          <p:nvPr/>
        </p:nvSpPr>
        <p:spPr>
          <a:xfrm>
            <a:off x="868680" y="2651760"/>
            <a:ext cx="594360" cy="594360"/>
          </a:xfrm>
          <a:prstGeom prst="ellipse">
            <a:avLst/>
          </a:prstGeom>
          <a:solidFill>
            <a:srgbClr val="368C43"/>
          </a:solidFill>
          <a:ln/>
        </p:spPr>
      </p:sp>
      <p:pic>
        <p:nvPicPr>
          <p:cNvPr id="7" name="Image 0" descr="/sessions/hopeful-pensive-planck/mnt/outputs/deck_build/icons/lock-white.png">    </p:cNvPr>
          <p:cNvPicPr>
            <a:picLocks noChangeAspect="1"/>
          </p:cNvPicPr>
          <p:nvPr/>
        </p:nvPicPr>
        <p:blipFill>
          <a:blip r:embed="rId1"/>
          <a:stretch>
            <a:fillRect/>
          </a:stretch>
        </p:blipFill>
        <p:spPr>
          <a:xfrm>
            <a:off x="1017270" y="2800350"/>
            <a:ext cx="297180" cy="297180"/>
          </a:xfrm>
          <a:prstGeom prst="rect">
            <a:avLst/>
          </a:prstGeom>
        </p:spPr>
      </p:pic>
      <p:sp>
        <p:nvSpPr>
          <p:cNvPr id="8" name="Text 5"/>
          <p:cNvSpPr/>
          <p:nvPr/>
        </p:nvSpPr>
        <p:spPr>
          <a:xfrm>
            <a:off x="1600200" y="2697480"/>
            <a:ext cx="4084168" cy="274320"/>
          </a:xfrm>
          <a:prstGeom prst="rect">
            <a:avLst/>
          </a:prstGeom>
          <a:noFill/>
          <a:ln/>
        </p:spPr>
        <p:txBody>
          <a:bodyPr wrap="square" rtlCol="0" anchor="ctr"/>
          <a:lstStyle/>
          <a:p>
            <a:pPr indent="0" marL="0">
              <a:buNone/>
            </a:pPr>
            <a:r>
              <a:rPr lang="en-US" sz="950" b="1" spc="100" kern="0" dirty="0">
                <a:solidFill>
                  <a:srgbClr val="368C43"/>
                </a:solidFill>
                <a:latin typeface="Calibri" pitchFamily="34" charset="0"/>
                <a:ea typeface="Calibri" pitchFamily="34" charset="-122"/>
                <a:cs typeface="Calibri" pitchFamily="34" charset="-120"/>
              </a:rPr>
              <a:t>PRIVATE — INTERNAL ADMIN</a:t>
            </a:r>
            <a:endParaRPr lang="en-US" sz="950" dirty="0"/>
          </a:p>
        </p:txBody>
      </p:sp>
      <p:sp>
        <p:nvSpPr>
          <p:cNvPr id="9" name="Text 6"/>
          <p:cNvSpPr/>
          <p:nvPr/>
        </p:nvSpPr>
        <p:spPr>
          <a:xfrm>
            <a:off x="1600200" y="2926080"/>
            <a:ext cx="408416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Your company database</a:t>
            </a:r>
            <a:endParaRPr lang="en-US" sz="1500" dirty="0"/>
          </a:p>
        </p:txBody>
      </p:sp>
      <p:sp>
        <p:nvSpPr>
          <p:cNvPr id="10" name="Text 7"/>
          <p:cNvSpPr/>
          <p:nvPr/>
        </p:nvSpPr>
        <p:spPr>
          <a:xfrm>
            <a:off x="868680" y="3566160"/>
            <a:ext cx="4724248" cy="2377440"/>
          </a:xfrm>
          <a:prstGeom prst="rect">
            <a:avLst/>
          </a:prstGeom>
          <a:noFill/>
          <a:ln/>
        </p:spPr>
        <p:txBody>
          <a:bodyPr wrap="square" rtlCol="0" anchor="t"/>
          <a:lstStyle/>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Full name &amp; photo</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Phone, email &amp; contact info</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Certificate PDFs &amp; documents</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Department, notes &amp; history</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Entire workforce records</a:t>
            </a:r>
            <a:endParaRPr lang="en-US" sz="1250" dirty="0"/>
          </a:p>
        </p:txBody>
      </p:sp>
      <p:sp>
        <p:nvSpPr>
          <p:cNvPr id="11" name="Shape 8"/>
          <p:cNvSpPr/>
          <p:nvPr/>
        </p:nvSpPr>
        <p:spPr>
          <a:xfrm>
            <a:off x="6278728" y="2331720"/>
            <a:ext cx="5364328" cy="3840480"/>
          </a:xfrm>
          <a:prstGeom prst="roundRect">
            <a:avLst>
              <a:gd name="adj" fmla="val 1905"/>
            </a:avLst>
          </a:prstGeom>
          <a:solidFill>
            <a:srgbClr val="15355C"/>
          </a:solidFill>
          <a:ln/>
        </p:spPr>
      </p:sp>
      <p:sp>
        <p:nvSpPr>
          <p:cNvPr id="12" name="Shape 9"/>
          <p:cNvSpPr/>
          <p:nvPr/>
        </p:nvSpPr>
        <p:spPr>
          <a:xfrm>
            <a:off x="6598768" y="2651760"/>
            <a:ext cx="594360" cy="594360"/>
          </a:xfrm>
          <a:prstGeom prst="ellipse">
            <a:avLst/>
          </a:prstGeom>
          <a:solidFill>
            <a:srgbClr val="368C43"/>
          </a:solidFill>
          <a:ln/>
        </p:spPr>
      </p:sp>
      <p:pic>
        <p:nvPicPr>
          <p:cNvPr id="13" name="Image 1" descr="/sessions/hopeful-pensive-planck/mnt/outputs/deck_build/icons/eyeslash-white.png">    </p:cNvPr>
          <p:cNvPicPr>
            <a:picLocks noChangeAspect="1"/>
          </p:cNvPicPr>
          <p:nvPr/>
        </p:nvPicPr>
        <p:blipFill>
          <a:blip r:embed="rId2"/>
          <a:stretch>
            <a:fillRect/>
          </a:stretch>
        </p:blipFill>
        <p:spPr>
          <a:xfrm>
            <a:off x="6747358" y="2800350"/>
            <a:ext cx="297180" cy="297180"/>
          </a:xfrm>
          <a:prstGeom prst="rect">
            <a:avLst/>
          </a:prstGeom>
        </p:spPr>
      </p:pic>
      <p:sp>
        <p:nvSpPr>
          <p:cNvPr id="14" name="Text 10"/>
          <p:cNvSpPr/>
          <p:nvPr/>
        </p:nvSpPr>
        <p:spPr>
          <a:xfrm>
            <a:off x="7330288" y="2697480"/>
            <a:ext cx="4084168" cy="274320"/>
          </a:xfrm>
          <a:prstGeom prst="rect">
            <a:avLst/>
          </a:prstGeom>
          <a:noFill/>
          <a:ln/>
        </p:spPr>
        <p:txBody>
          <a:bodyPr wrap="square" rtlCol="0" anchor="ctr"/>
          <a:lstStyle/>
          <a:p>
            <a:pPr indent="0" marL="0">
              <a:buNone/>
            </a:pPr>
            <a:r>
              <a:rPr lang="en-US" sz="950" b="1" spc="100" kern="0" dirty="0">
                <a:solidFill>
                  <a:srgbClr val="368C43"/>
                </a:solidFill>
                <a:latin typeface="Calibri" pitchFamily="34" charset="0"/>
                <a:ea typeface="Calibri" pitchFamily="34" charset="-122"/>
                <a:cs typeface="Calibri" pitchFamily="34" charset="-120"/>
              </a:rPr>
              <a:t>PUBLIC — QR VERIFICATION PAGE</a:t>
            </a:r>
            <a:endParaRPr lang="en-US" sz="950" dirty="0"/>
          </a:p>
        </p:txBody>
      </p:sp>
      <p:sp>
        <p:nvSpPr>
          <p:cNvPr id="15" name="Text 11"/>
          <p:cNvSpPr/>
          <p:nvPr/>
        </p:nvSpPr>
        <p:spPr>
          <a:xfrm>
            <a:off x="7330288" y="2926080"/>
            <a:ext cx="408416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a scan reveals</a:t>
            </a:r>
            <a:endParaRPr lang="en-US" sz="1500" dirty="0"/>
          </a:p>
        </p:txBody>
      </p:sp>
      <p:sp>
        <p:nvSpPr>
          <p:cNvPr id="16" name="Text 12"/>
          <p:cNvSpPr/>
          <p:nvPr/>
        </p:nvSpPr>
        <p:spPr>
          <a:xfrm>
            <a:off x="6598768" y="3566160"/>
            <a:ext cx="4724248" cy="2377440"/>
          </a:xfrm>
          <a:prstGeom prst="rect">
            <a:avLst/>
          </a:prstGeom>
          <a:noFill/>
          <a:ln/>
        </p:spPr>
        <p:txBody>
          <a:bodyPr wrap="square" rtlCol="0" anchor="t"/>
          <a:lstStyle/>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Name &amp; photo</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Role &amp; department</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Current credential status</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Phone &amp; email — hidden</a:t>
            </a:r>
            <a:endParaRPr lang="en-US" sz="1250" dirty="0"/>
          </a:p>
          <a:p>
            <a:pPr marL="342900" indent="-342900">
              <a:spcAft>
                <a:spcPts val="1000"/>
              </a:spcAft>
              <a:buSzPct val="100000"/>
              <a:buChar char="✓"/>
            </a:pPr>
            <a:r>
              <a:rPr lang="en-US" sz="1250" dirty="0">
                <a:solidFill>
                  <a:srgbClr val="CBD8D0"/>
                </a:solidFill>
                <a:latin typeface="Calibri" pitchFamily="34" charset="0"/>
                <a:ea typeface="Calibri" pitchFamily="34" charset="-122"/>
                <a:cs typeface="Calibri" pitchFamily="34" charset="-120"/>
              </a:rPr>
              <a:t>Other workers — never exposed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WHO IT’S FOR</a:t>
            </a:r>
            <a:endParaRPr lang="en-US" sz="1200" dirty="0"/>
          </a:p>
        </p:txBody>
      </p:sp>
      <p:sp>
        <p:nvSpPr>
          <p:cNvPr id="3" name="Text 1"/>
          <p:cNvSpPr/>
          <p:nvPr/>
        </p:nvSpPr>
        <p:spPr>
          <a:xfrm>
            <a:off x="548640" y="777240"/>
            <a:ext cx="11064240" cy="640080"/>
          </a:xfrm>
          <a:prstGeom prst="rect">
            <a:avLst/>
          </a:prstGeom>
          <a:noFill/>
          <a:ln/>
        </p:spPr>
        <p:txBody>
          <a:bodyPr wrap="square" rtlCol="0" anchor="ctr"/>
          <a:lstStyle/>
          <a:p>
            <a:pPr indent="0" marL="0">
              <a:buNone/>
            </a:pPr>
            <a:r>
              <a:rPr lang="en-US" sz="2800" b="1" dirty="0">
                <a:solidFill>
                  <a:srgbClr val="0C2540"/>
                </a:solidFill>
                <a:latin typeface="Calibri" pitchFamily="34" charset="0"/>
                <a:ea typeface="Calibri" pitchFamily="34" charset="-122"/>
                <a:cs typeface="Calibri" pitchFamily="34" charset="-120"/>
              </a:rPr>
              <a:t>Built for everyone responsible for jobsite access.</a:t>
            </a:r>
            <a:endParaRPr lang="en-US" sz="2800" dirty="0"/>
          </a:p>
        </p:txBody>
      </p:sp>
      <p:sp>
        <p:nvSpPr>
          <p:cNvPr id="4" name="Shape 2"/>
          <p:cNvSpPr/>
          <p:nvPr/>
        </p:nvSpPr>
        <p:spPr>
          <a:xfrm>
            <a:off x="548640" y="1965960"/>
            <a:ext cx="5349240" cy="1783080"/>
          </a:xfrm>
          <a:prstGeom prst="roundRect">
            <a:avLst>
              <a:gd name="adj" fmla="val 4103"/>
            </a:avLst>
          </a:prstGeom>
          <a:solidFill>
            <a:srgbClr val="F3F5F4"/>
          </a:solidFill>
          <a:ln/>
        </p:spPr>
      </p:sp>
      <p:sp>
        <p:nvSpPr>
          <p:cNvPr id="5" name="Shape 3"/>
          <p:cNvSpPr/>
          <p:nvPr/>
        </p:nvSpPr>
        <p:spPr>
          <a:xfrm>
            <a:off x="822960" y="2240280"/>
            <a:ext cx="685800" cy="685800"/>
          </a:xfrm>
          <a:prstGeom prst="ellipse">
            <a:avLst/>
          </a:prstGeom>
          <a:solidFill>
            <a:srgbClr val="0C2540"/>
          </a:solidFill>
          <a:ln/>
        </p:spPr>
      </p:sp>
      <p:pic>
        <p:nvPicPr>
          <p:cNvPr id="6" name="Image 0" descr="/sessions/hopeful-pensive-planck/mnt/outputs/deck_build/icons/building-white.png">    </p:cNvPr>
          <p:cNvPicPr>
            <a:picLocks noChangeAspect="1"/>
          </p:cNvPicPr>
          <p:nvPr/>
        </p:nvPicPr>
        <p:blipFill>
          <a:blip r:embed="rId1"/>
          <a:stretch>
            <a:fillRect/>
          </a:stretch>
        </p:blipFill>
        <p:spPr>
          <a:xfrm>
            <a:off x="973836" y="2391156"/>
            <a:ext cx="384048" cy="384048"/>
          </a:xfrm>
          <a:prstGeom prst="rect">
            <a:avLst/>
          </a:prstGeom>
        </p:spPr>
      </p:pic>
      <p:sp>
        <p:nvSpPr>
          <p:cNvPr id="7" name="Text 4"/>
          <p:cNvSpPr/>
          <p:nvPr/>
        </p:nvSpPr>
        <p:spPr>
          <a:xfrm>
            <a:off x="1691640" y="2221992"/>
            <a:ext cx="3931920" cy="640080"/>
          </a:xfrm>
          <a:prstGeom prst="rect">
            <a:avLst/>
          </a:prstGeom>
          <a:noFill/>
          <a:ln/>
        </p:spPr>
        <p:txBody>
          <a:bodyPr wrap="square" rtlCol="0" anchor="t"/>
          <a:lstStyle/>
          <a:p>
            <a:pPr indent="0" marL="0">
              <a:buNone/>
            </a:pPr>
            <a:r>
              <a:rPr lang="en-US" sz="1450" b="1" dirty="0">
                <a:solidFill>
                  <a:srgbClr val="0C2540"/>
                </a:solidFill>
                <a:latin typeface="Calibri" pitchFamily="34" charset="0"/>
                <a:ea typeface="Calibri" pitchFamily="34" charset="-122"/>
                <a:cs typeface="Calibri" pitchFamily="34" charset="-120"/>
              </a:rPr>
              <a:t>Contracting &amp; trades companies</a:t>
            </a:r>
            <a:endParaRPr lang="en-US" sz="1450" dirty="0"/>
          </a:p>
        </p:txBody>
      </p:sp>
      <p:sp>
        <p:nvSpPr>
          <p:cNvPr id="8" name="Text 5"/>
          <p:cNvSpPr/>
          <p:nvPr/>
        </p:nvSpPr>
        <p:spPr>
          <a:xfrm>
            <a:off x="1691640" y="2807208"/>
            <a:ext cx="3931920" cy="8229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Manage crews of electricians, welders, technicians, and operators from one directory.</a:t>
            </a:r>
            <a:endParaRPr lang="en-US" sz="1100" dirty="0"/>
          </a:p>
        </p:txBody>
      </p:sp>
      <p:sp>
        <p:nvSpPr>
          <p:cNvPr id="9" name="Shape 6"/>
          <p:cNvSpPr/>
          <p:nvPr/>
        </p:nvSpPr>
        <p:spPr>
          <a:xfrm>
            <a:off x="6263640" y="1965960"/>
            <a:ext cx="5349240" cy="1783080"/>
          </a:xfrm>
          <a:prstGeom prst="roundRect">
            <a:avLst>
              <a:gd name="adj" fmla="val 4103"/>
            </a:avLst>
          </a:prstGeom>
          <a:solidFill>
            <a:srgbClr val="F3F5F4"/>
          </a:solidFill>
          <a:ln/>
        </p:spPr>
      </p:sp>
      <p:sp>
        <p:nvSpPr>
          <p:cNvPr id="10" name="Shape 7"/>
          <p:cNvSpPr/>
          <p:nvPr/>
        </p:nvSpPr>
        <p:spPr>
          <a:xfrm>
            <a:off x="6537960" y="2240280"/>
            <a:ext cx="685800" cy="685800"/>
          </a:xfrm>
          <a:prstGeom prst="ellipse">
            <a:avLst/>
          </a:prstGeom>
          <a:solidFill>
            <a:srgbClr val="0C2540"/>
          </a:solidFill>
          <a:ln/>
        </p:spPr>
      </p:sp>
      <p:pic>
        <p:nvPicPr>
          <p:cNvPr id="11" name="Image 1" descr="/sessions/hopeful-pensive-planck/mnt/outputs/deck_build/icons/users-white.png">    </p:cNvPr>
          <p:cNvPicPr>
            <a:picLocks noChangeAspect="1"/>
          </p:cNvPicPr>
          <p:nvPr/>
        </p:nvPicPr>
        <p:blipFill>
          <a:blip r:embed="rId2"/>
          <a:stretch>
            <a:fillRect/>
          </a:stretch>
        </p:blipFill>
        <p:spPr>
          <a:xfrm>
            <a:off x="6688836" y="2391156"/>
            <a:ext cx="384048" cy="384048"/>
          </a:xfrm>
          <a:prstGeom prst="rect">
            <a:avLst/>
          </a:prstGeom>
        </p:spPr>
      </p:pic>
      <p:sp>
        <p:nvSpPr>
          <p:cNvPr id="12" name="Text 8"/>
          <p:cNvSpPr/>
          <p:nvPr/>
        </p:nvSpPr>
        <p:spPr>
          <a:xfrm>
            <a:off x="7406640" y="2221992"/>
            <a:ext cx="3931920" cy="640080"/>
          </a:xfrm>
          <a:prstGeom prst="rect">
            <a:avLst/>
          </a:prstGeom>
          <a:noFill/>
          <a:ln/>
        </p:spPr>
        <p:txBody>
          <a:bodyPr wrap="square" rtlCol="0" anchor="t"/>
          <a:lstStyle/>
          <a:p>
            <a:pPr indent="0" marL="0">
              <a:buNone/>
            </a:pPr>
            <a:r>
              <a:rPr lang="en-US" sz="1450" b="1" dirty="0">
                <a:solidFill>
                  <a:srgbClr val="0C2540"/>
                </a:solidFill>
                <a:latin typeface="Calibri" pitchFamily="34" charset="0"/>
                <a:ea typeface="Calibri" pitchFamily="34" charset="-122"/>
                <a:cs typeface="Calibri" pitchFamily="34" charset="-120"/>
              </a:rPr>
              <a:t>Staffing agencies</a:t>
            </a:r>
            <a:endParaRPr lang="en-US" sz="1450" dirty="0"/>
          </a:p>
        </p:txBody>
      </p:sp>
      <p:sp>
        <p:nvSpPr>
          <p:cNvPr id="13" name="Text 9"/>
          <p:cNvSpPr/>
          <p:nvPr/>
        </p:nvSpPr>
        <p:spPr>
          <a:xfrm>
            <a:off x="7406640" y="2807208"/>
            <a:ext cx="3931920" cy="8229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Place certified trades workers on client sites with credentials ready to verify on arrival.</a:t>
            </a:r>
            <a:endParaRPr lang="en-US" sz="1100" dirty="0"/>
          </a:p>
        </p:txBody>
      </p:sp>
      <p:sp>
        <p:nvSpPr>
          <p:cNvPr id="14" name="Shape 10"/>
          <p:cNvSpPr/>
          <p:nvPr/>
        </p:nvSpPr>
        <p:spPr>
          <a:xfrm>
            <a:off x="548640" y="4069080"/>
            <a:ext cx="5349240" cy="1783080"/>
          </a:xfrm>
          <a:prstGeom prst="roundRect">
            <a:avLst>
              <a:gd name="adj" fmla="val 4103"/>
            </a:avLst>
          </a:prstGeom>
          <a:solidFill>
            <a:srgbClr val="F3F5F4"/>
          </a:solidFill>
          <a:ln/>
        </p:spPr>
      </p:sp>
      <p:sp>
        <p:nvSpPr>
          <p:cNvPr id="15" name="Shape 11"/>
          <p:cNvSpPr/>
          <p:nvPr/>
        </p:nvSpPr>
        <p:spPr>
          <a:xfrm>
            <a:off x="822960" y="4343400"/>
            <a:ext cx="685800" cy="685800"/>
          </a:xfrm>
          <a:prstGeom prst="ellipse">
            <a:avLst/>
          </a:prstGeom>
          <a:solidFill>
            <a:srgbClr val="0C2540"/>
          </a:solidFill>
          <a:ln/>
        </p:spPr>
      </p:sp>
      <p:pic>
        <p:nvPicPr>
          <p:cNvPr id="16" name="Image 2" descr="/sessions/hopeful-pensive-planck/mnt/outputs/deck_build/icons/usershield-white.png">    </p:cNvPr>
          <p:cNvPicPr>
            <a:picLocks noChangeAspect="1"/>
          </p:cNvPicPr>
          <p:nvPr/>
        </p:nvPicPr>
        <p:blipFill>
          <a:blip r:embed="rId3"/>
          <a:stretch>
            <a:fillRect/>
          </a:stretch>
        </p:blipFill>
        <p:spPr>
          <a:xfrm>
            <a:off x="973836" y="4494276"/>
            <a:ext cx="384048" cy="384048"/>
          </a:xfrm>
          <a:prstGeom prst="rect">
            <a:avLst/>
          </a:prstGeom>
        </p:spPr>
      </p:pic>
      <p:sp>
        <p:nvSpPr>
          <p:cNvPr id="17" name="Text 12"/>
          <p:cNvSpPr/>
          <p:nvPr/>
        </p:nvSpPr>
        <p:spPr>
          <a:xfrm>
            <a:off x="1691640" y="4325112"/>
            <a:ext cx="3931920" cy="640080"/>
          </a:xfrm>
          <a:prstGeom prst="rect">
            <a:avLst/>
          </a:prstGeom>
          <a:noFill/>
          <a:ln/>
        </p:spPr>
        <p:txBody>
          <a:bodyPr wrap="square" rtlCol="0" anchor="t"/>
          <a:lstStyle/>
          <a:p>
            <a:pPr indent="0" marL="0">
              <a:buNone/>
            </a:pPr>
            <a:r>
              <a:rPr lang="en-US" sz="1450" b="1" dirty="0">
                <a:solidFill>
                  <a:srgbClr val="0C2540"/>
                </a:solidFill>
                <a:latin typeface="Calibri" pitchFamily="34" charset="0"/>
                <a:ea typeface="Calibri" pitchFamily="34" charset="-122"/>
                <a:cs typeface="Calibri" pitchFamily="34" charset="-120"/>
              </a:rPr>
              <a:t>Safety &amp; compliance managers</a:t>
            </a:r>
            <a:endParaRPr lang="en-US" sz="1450" dirty="0"/>
          </a:p>
        </p:txBody>
      </p:sp>
      <p:sp>
        <p:nvSpPr>
          <p:cNvPr id="18" name="Text 13"/>
          <p:cNvSpPr/>
          <p:nvPr/>
        </p:nvSpPr>
        <p:spPr>
          <a:xfrm>
            <a:off x="1691640" y="4910328"/>
            <a:ext cx="3931920" cy="8229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Get workforce-wide visibility into what’s expiring and what’s already lapsed.</a:t>
            </a:r>
            <a:endParaRPr lang="en-US" sz="1100" dirty="0"/>
          </a:p>
        </p:txBody>
      </p:sp>
      <p:sp>
        <p:nvSpPr>
          <p:cNvPr id="19" name="Shape 14"/>
          <p:cNvSpPr/>
          <p:nvPr/>
        </p:nvSpPr>
        <p:spPr>
          <a:xfrm>
            <a:off x="6263640" y="4069080"/>
            <a:ext cx="5349240" cy="1783080"/>
          </a:xfrm>
          <a:prstGeom prst="roundRect">
            <a:avLst>
              <a:gd name="adj" fmla="val 4103"/>
            </a:avLst>
          </a:prstGeom>
          <a:solidFill>
            <a:srgbClr val="F3F5F4"/>
          </a:solidFill>
          <a:ln/>
        </p:spPr>
      </p:sp>
      <p:sp>
        <p:nvSpPr>
          <p:cNvPr id="20" name="Shape 15"/>
          <p:cNvSpPr/>
          <p:nvPr/>
        </p:nvSpPr>
        <p:spPr>
          <a:xfrm>
            <a:off x="6537960" y="4343400"/>
            <a:ext cx="685800" cy="685800"/>
          </a:xfrm>
          <a:prstGeom prst="ellipse">
            <a:avLst/>
          </a:prstGeom>
          <a:solidFill>
            <a:srgbClr val="0C2540"/>
          </a:solidFill>
          <a:ln/>
        </p:spPr>
      </p:sp>
      <p:pic>
        <p:nvPicPr>
          <p:cNvPr id="21" name="Image 3" descr="/sessions/hopeful-pensive-planck/mnt/outputs/deck_build/icons/dooropen-white.png">    </p:cNvPr>
          <p:cNvPicPr>
            <a:picLocks noChangeAspect="1"/>
          </p:cNvPicPr>
          <p:nvPr/>
        </p:nvPicPr>
        <p:blipFill>
          <a:blip r:embed="rId4"/>
          <a:stretch>
            <a:fillRect/>
          </a:stretch>
        </p:blipFill>
        <p:spPr>
          <a:xfrm>
            <a:off x="6688836" y="4494276"/>
            <a:ext cx="384048" cy="384048"/>
          </a:xfrm>
          <a:prstGeom prst="rect">
            <a:avLst/>
          </a:prstGeom>
        </p:spPr>
      </p:pic>
      <p:sp>
        <p:nvSpPr>
          <p:cNvPr id="22" name="Text 16"/>
          <p:cNvSpPr/>
          <p:nvPr/>
        </p:nvSpPr>
        <p:spPr>
          <a:xfrm>
            <a:off x="7406640" y="4325112"/>
            <a:ext cx="3931920" cy="640080"/>
          </a:xfrm>
          <a:prstGeom prst="rect">
            <a:avLst/>
          </a:prstGeom>
          <a:noFill/>
          <a:ln/>
        </p:spPr>
        <p:txBody>
          <a:bodyPr wrap="square" rtlCol="0" anchor="t"/>
          <a:lstStyle/>
          <a:p>
            <a:pPr indent="0" marL="0">
              <a:buNone/>
            </a:pPr>
            <a:r>
              <a:rPr lang="en-US" sz="1450" b="1" dirty="0">
                <a:solidFill>
                  <a:srgbClr val="0C2540"/>
                </a:solidFill>
                <a:latin typeface="Calibri" pitchFamily="34" charset="0"/>
                <a:ea typeface="Calibri" pitchFamily="34" charset="-122"/>
                <a:cs typeface="Calibri" pitchFamily="34" charset="-120"/>
              </a:rPr>
              <a:t>Supervisors &amp; gate security</a:t>
            </a:r>
            <a:endParaRPr lang="en-US" sz="1450" dirty="0"/>
          </a:p>
        </p:txBody>
      </p:sp>
      <p:sp>
        <p:nvSpPr>
          <p:cNvPr id="23" name="Text 17"/>
          <p:cNvSpPr/>
          <p:nvPr/>
        </p:nvSpPr>
        <p:spPr>
          <a:xfrm>
            <a:off x="7406640" y="4910328"/>
            <a:ext cx="3931920" cy="822960"/>
          </a:xfrm>
          <a:prstGeom prst="rect">
            <a:avLst/>
          </a:prstGeom>
          <a:noFill/>
          <a:ln/>
        </p:spPr>
        <p:txBody>
          <a:bodyPr wrap="square" rtlCol="0" anchor="ctr"/>
          <a:lstStyle/>
          <a:p>
            <a:pPr indent="0" marL="0">
              <a:lnSpc>
                <a:spcPct val="125000"/>
              </a:lnSpc>
              <a:buNone/>
            </a:pPr>
            <a:r>
              <a:rPr lang="en-US" sz="1100" dirty="0">
                <a:solidFill>
                  <a:srgbClr val="4B5563"/>
                </a:solidFill>
                <a:latin typeface="Calibri" pitchFamily="34" charset="0"/>
                <a:ea typeface="Calibri" pitchFamily="34" charset="-122"/>
                <a:cs typeface="Calibri" pitchFamily="34" charset="-120"/>
              </a:rPr>
              <a:t>Verify a worker’s credentials in seconds — not minutes, and not on the honor system.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4"/>
        </a:solidFill>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rtlCol="0" anchor="ctr"/>
          <a:lstStyle/>
          <a:p>
            <a:pPr indent="0" marL="0">
              <a:buNone/>
            </a:pPr>
            <a:r>
              <a:rPr lang="en-US" sz="1200" b="1" spc="150" kern="0" dirty="0">
                <a:solidFill>
                  <a:srgbClr val="368C43"/>
                </a:solidFill>
                <a:latin typeface="Calibri" pitchFamily="34" charset="0"/>
                <a:ea typeface="Calibri" pitchFamily="34" charset="-122"/>
                <a:cs typeface="Calibri" pitchFamily="34" charset="-120"/>
              </a:rPr>
              <a:t>PRICING</a:t>
            </a:r>
            <a:endParaRPr lang="en-US" sz="1200" dirty="0"/>
          </a:p>
        </p:txBody>
      </p:sp>
      <p:sp>
        <p:nvSpPr>
          <p:cNvPr id="3" name="Text 1"/>
          <p:cNvSpPr/>
          <p:nvPr/>
        </p:nvSpPr>
        <p:spPr>
          <a:xfrm>
            <a:off x="548640" y="731520"/>
            <a:ext cx="11064240" cy="548640"/>
          </a:xfrm>
          <a:prstGeom prst="rect">
            <a:avLst/>
          </a:prstGeom>
          <a:noFill/>
          <a:ln/>
        </p:spPr>
        <p:txBody>
          <a:bodyPr wrap="square" rtlCol="0" anchor="ctr"/>
          <a:lstStyle/>
          <a:p>
            <a:pPr indent="0" marL="0">
              <a:buNone/>
            </a:pPr>
            <a:r>
              <a:rPr lang="en-US" sz="2400" b="1" dirty="0">
                <a:solidFill>
                  <a:srgbClr val="0C2540"/>
                </a:solidFill>
                <a:latin typeface="Calibri" pitchFamily="34" charset="0"/>
                <a:ea typeface="Calibri" pitchFamily="34" charset="-122"/>
                <a:cs typeface="Calibri" pitchFamily="34" charset="-120"/>
              </a:rPr>
              <a:t>Simple pricing based on the workers you keep job-ready.</a:t>
            </a:r>
            <a:endParaRPr lang="en-US" sz="2400" dirty="0"/>
          </a:p>
        </p:txBody>
      </p:sp>
      <p:sp>
        <p:nvSpPr>
          <p:cNvPr id="4" name="Text 2"/>
          <p:cNvSpPr/>
          <p:nvPr/>
        </p:nvSpPr>
        <p:spPr>
          <a:xfrm>
            <a:off x="548640" y="1280160"/>
            <a:ext cx="11064240" cy="365760"/>
          </a:xfrm>
          <a:prstGeom prst="rect">
            <a:avLst/>
          </a:prstGeom>
          <a:noFill/>
          <a:ln/>
        </p:spPr>
        <p:txBody>
          <a:bodyPr wrap="square" rtlCol="0" anchor="ctr"/>
          <a:lstStyle/>
          <a:p>
            <a:pPr indent="0" marL="0">
              <a:buNone/>
            </a:pPr>
            <a:r>
              <a:rPr lang="en-US" sz="1150" dirty="0">
                <a:solidFill>
                  <a:srgbClr val="4B5563"/>
                </a:solidFill>
                <a:latin typeface="Calibri" pitchFamily="34" charset="0"/>
                <a:ea typeface="Calibri" pitchFamily="34" charset="-122"/>
                <a:cs typeface="Calibri" pitchFamily="34" charset="-120"/>
              </a:rPr>
              <a:t>Priced by active credentialed workers — not per credential, per scan, or per QR view. All plans billed annually.</a:t>
            </a:r>
            <a:endParaRPr lang="en-US" sz="1150" dirty="0"/>
          </a:p>
        </p:txBody>
      </p:sp>
      <p:sp>
        <p:nvSpPr>
          <p:cNvPr id="5" name="Shape 3"/>
          <p:cNvSpPr/>
          <p:nvPr/>
        </p:nvSpPr>
        <p:spPr>
          <a:xfrm>
            <a:off x="548640" y="1828800"/>
            <a:ext cx="3566160" cy="3703320"/>
          </a:xfrm>
          <a:prstGeom prst="roundRect">
            <a:avLst>
              <a:gd name="adj" fmla="val 2051"/>
            </a:avLst>
          </a:prstGeom>
          <a:solidFill>
            <a:srgbClr val="FFFFFF"/>
          </a:solidFill>
          <a:ln w="12700">
            <a:solidFill>
              <a:srgbClr val="E5E7EB"/>
            </a:solidFill>
            <a:prstDash val="solid"/>
          </a:ln>
        </p:spPr>
      </p:sp>
      <p:sp>
        <p:nvSpPr>
          <p:cNvPr id="6" name="Text 4"/>
          <p:cNvSpPr/>
          <p:nvPr/>
        </p:nvSpPr>
        <p:spPr>
          <a:xfrm>
            <a:off x="822960" y="2084832"/>
            <a:ext cx="3017520" cy="274320"/>
          </a:xfrm>
          <a:prstGeom prst="rect">
            <a:avLst/>
          </a:prstGeom>
          <a:noFill/>
          <a:ln/>
        </p:spPr>
        <p:txBody>
          <a:bodyPr wrap="square" rtlCol="0" anchor="ctr"/>
          <a:lstStyle/>
          <a:p>
            <a:pPr indent="0" marL="0">
              <a:buNone/>
            </a:pPr>
            <a:r>
              <a:rPr lang="en-US" sz="1050" b="1" spc="100" kern="0" dirty="0">
                <a:solidFill>
                  <a:srgbClr val="1F5C2C"/>
                </a:solidFill>
                <a:latin typeface="Calibri" pitchFamily="34" charset="0"/>
                <a:ea typeface="Calibri" pitchFamily="34" charset="-122"/>
                <a:cs typeface="Calibri" pitchFamily="34" charset="-120"/>
              </a:rPr>
              <a:t>ESSENTIAL</a:t>
            </a:r>
            <a:endParaRPr lang="en-US" sz="1050" dirty="0"/>
          </a:p>
        </p:txBody>
      </p:sp>
      <p:sp>
        <p:nvSpPr>
          <p:cNvPr id="7" name="Text 5"/>
          <p:cNvSpPr/>
          <p:nvPr/>
        </p:nvSpPr>
        <p:spPr>
          <a:xfrm>
            <a:off x="822960" y="2359152"/>
            <a:ext cx="3017520" cy="548640"/>
          </a:xfrm>
          <a:prstGeom prst="rect">
            <a:avLst/>
          </a:prstGeom>
          <a:noFill/>
          <a:ln/>
        </p:spPr>
        <p:txBody>
          <a:bodyPr wrap="square" rtlCol="0" anchor="ctr"/>
          <a:lstStyle/>
          <a:p>
            <a:pPr indent="0" marL="0">
              <a:buNone/>
            </a:pPr>
            <a:r>
              <a:rPr lang="en-US" sz="3000" b="1" dirty="0">
                <a:solidFill>
                  <a:srgbClr val="0C2540"/>
                </a:solidFill>
                <a:latin typeface="Calibri" pitchFamily="34" charset="0"/>
                <a:ea typeface="Calibri" pitchFamily="34" charset="-122"/>
                <a:cs typeface="Calibri" pitchFamily="34" charset="-120"/>
              </a:rPr>
              <a:t>$249</a:t>
            </a:r>
            <a:endParaRPr lang="en-US" sz="3000" dirty="0"/>
          </a:p>
        </p:txBody>
      </p:sp>
      <p:sp>
        <p:nvSpPr>
          <p:cNvPr id="8" name="Text 6"/>
          <p:cNvSpPr/>
          <p:nvPr/>
        </p:nvSpPr>
        <p:spPr>
          <a:xfrm>
            <a:off x="822960" y="2907792"/>
            <a:ext cx="3017520" cy="32004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/mo — up to 75 workers</a:t>
            </a:r>
            <a:endParaRPr lang="en-US" sz="1000" dirty="0"/>
          </a:p>
        </p:txBody>
      </p:sp>
      <p:sp>
        <p:nvSpPr>
          <p:cNvPr id="9" name="Text 7"/>
          <p:cNvSpPr/>
          <p:nvPr/>
        </p:nvSpPr>
        <p:spPr>
          <a:xfrm>
            <a:off x="822960" y="3383280"/>
            <a:ext cx="3017520" cy="1965960"/>
          </a:xfrm>
          <a:prstGeom prst="rect">
            <a:avLst/>
          </a:prstGeom>
          <a:noFill/>
          <a:ln/>
        </p:spPr>
        <p:txBody>
          <a:bodyPr wrap="square" rtlCol="0" anchor="t"/>
          <a:lstStyle/>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QR verification</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Expiration alerts</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Compliance dashboard</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CSV audit export</a:t>
            </a:r>
            <a:endParaRPr lang="en-US" sz="1100" dirty="0"/>
          </a:p>
        </p:txBody>
      </p:sp>
      <p:sp>
        <p:nvSpPr>
          <p:cNvPr id="10" name="Shape 8"/>
          <p:cNvSpPr/>
          <p:nvPr/>
        </p:nvSpPr>
        <p:spPr>
          <a:xfrm>
            <a:off x="4370832" y="1828800"/>
            <a:ext cx="3566160" cy="3703320"/>
          </a:xfrm>
          <a:prstGeom prst="roundRect">
            <a:avLst>
              <a:gd name="adj" fmla="val 2051"/>
            </a:avLst>
          </a:prstGeom>
          <a:solidFill>
            <a:srgbClr val="0C2540"/>
          </a:solidFill>
          <a:ln/>
        </p:spPr>
      </p:sp>
      <p:sp>
        <p:nvSpPr>
          <p:cNvPr id="11" name="Shape 9"/>
          <p:cNvSpPr/>
          <p:nvPr/>
        </p:nvSpPr>
        <p:spPr>
          <a:xfrm>
            <a:off x="6336792" y="1664208"/>
            <a:ext cx="1600200" cy="329184"/>
          </a:xfrm>
          <a:prstGeom prst="roundRect">
            <a:avLst>
              <a:gd name="adj" fmla="val 50000"/>
            </a:avLst>
          </a:prstGeom>
          <a:solidFill>
            <a:srgbClr val="368C43"/>
          </a:solidFill>
          <a:ln/>
        </p:spPr>
      </p:sp>
      <p:sp>
        <p:nvSpPr>
          <p:cNvPr id="12" name="Text 10"/>
          <p:cNvSpPr/>
          <p:nvPr/>
        </p:nvSpPr>
        <p:spPr>
          <a:xfrm>
            <a:off x="6336792" y="1664208"/>
            <a:ext cx="1600200" cy="32918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MOST POPULAR</a:t>
            </a:r>
            <a:endParaRPr lang="en-US" sz="850" dirty="0"/>
          </a:p>
        </p:txBody>
      </p:sp>
      <p:sp>
        <p:nvSpPr>
          <p:cNvPr id="13" name="Text 11"/>
          <p:cNvSpPr/>
          <p:nvPr/>
        </p:nvSpPr>
        <p:spPr>
          <a:xfrm>
            <a:off x="4645152" y="2084832"/>
            <a:ext cx="3017520" cy="274320"/>
          </a:xfrm>
          <a:prstGeom prst="rect">
            <a:avLst/>
          </a:prstGeom>
          <a:noFill/>
          <a:ln/>
        </p:spPr>
        <p:txBody>
          <a:bodyPr wrap="square" rtlCol="0" anchor="ctr"/>
          <a:lstStyle/>
          <a:p>
            <a:pPr indent="0" marL="0">
              <a:buNone/>
            </a:pPr>
            <a:r>
              <a:rPr lang="en-US" sz="1050" b="1" spc="100" kern="0" dirty="0">
                <a:solidFill>
                  <a:srgbClr val="368C43"/>
                </a:solidFill>
                <a:latin typeface="Calibri" pitchFamily="34" charset="0"/>
                <a:ea typeface="Calibri" pitchFamily="34" charset="-122"/>
                <a:cs typeface="Calibri" pitchFamily="34" charset="-120"/>
              </a:rPr>
              <a:t>PROFESSIONAL</a:t>
            </a:r>
            <a:endParaRPr lang="en-US" sz="1050" dirty="0"/>
          </a:p>
        </p:txBody>
      </p:sp>
      <p:sp>
        <p:nvSpPr>
          <p:cNvPr id="14" name="Text 12"/>
          <p:cNvSpPr/>
          <p:nvPr/>
        </p:nvSpPr>
        <p:spPr>
          <a:xfrm>
            <a:off x="4645152" y="2359152"/>
            <a:ext cx="301752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$499</a:t>
            </a:r>
            <a:endParaRPr lang="en-US" sz="3000" dirty="0"/>
          </a:p>
        </p:txBody>
      </p:sp>
      <p:sp>
        <p:nvSpPr>
          <p:cNvPr id="15" name="Text 13"/>
          <p:cNvSpPr/>
          <p:nvPr/>
        </p:nvSpPr>
        <p:spPr>
          <a:xfrm>
            <a:off x="4645152" y="2907792"/>
            <a:ext cx="3017520" cy="320040"/>
          </a:xfrm>
          <a:prstGeom prst="rect">
            <a:avLst/>
          </a:prstGeom>
          <a:noFill/>
          <a:ln/>
        </p:spPr>
        <p:txBody>
          <a:bodyPr wrap="square" rtlCol="0" anchor="ctr"/>
          <a:lstStyle/>
          <a:p>
            <a:pPr indent="0" marL="0">
              <a:buNone/>
            </a:pPr>
            <a:r>
              <a:rPr lang="en-US" sz="1000" dirty="0">
                <a:solidFill>
                  <a:srgbClr val="CBD8D0"/>
                </a:solidFill>
                <a:latin typeface="Calibri" pitchFamily="34" charset="0"/>
                <a:ea typeface="Calibri" pitchFamily="34" charset="-122"/>
                <a:cs typeface="Calibri" pitchFamily="34" charset="-120"/>
              </a:rPr>
              <a:t>/mo — up to 250 workers</a:t>
            </a:r>
            <a:endParaRPr lang="en-US" sz="1000" dirty="0"/>
          </a:p>
        </p:txBody>
      </p:sp>
      <p:sp>
        <p:nvSpPr>
          <p:cNvPr id="16" name="Text 14"/>
          <p:cNvSpPr/>
          <p:nvPr/>
        </p:nvSpPr>
        <p:spPr>
          <a:xfrm>
            <a:off x="4645152" y="3383280"/>
            <a:ext cx="3017520" cy="1965960"/>
          </a:xfrm>
          <a:prstGeom prst="rect">
            <a:avLst/>
          </a:prstGeom>
          <a:noFill/>
          <a:ln/>
        </p:spPr>
        <p:txBody>
          <a:bodyPr wrap="square" rtlCol="0" anchor="t"/>
          <a:lstStyle/>
          <a:p>
            <a:pPr marL="342900" indent="-342900">
              <a:spcAft>
                <a:spcPts val="900"/>
              </a:spcAft>
              <a:buSzPct val="100000"/>
              <a:buChar char="✓"/>
            </a:pPr>
            <a:r>
              <a:rPr lang="en-US" sz="1100" dirty="0">
                <a:solidFill>
                  <a:srgbClr val="CBD8D0"/>
                </a:solidFill>
                <a:latin typeface="Calibri" pitchFamily="34" charset="0"/>
                <a:ea typeface="Calibri" pitchFamily="34" charset="-122"/>
                <a:cs typeface="Calibri" pitchFamily="34" charset="-120"/>
              </a:rPr>
              <a:t>Everything in Essential</a:t>
            </a:r>
            <a:endParaRPr lang="en-US" sz="1100" dirty="0"/>
          </a:p>
          <a:p>
            <a:pPr marL="342900" indent="-342900">
              <a:spcAft>
                <a:spcPts val="900"/>
              </a:spcAft>
              <a:buSzPct val="100000"/>
              <a:buChar char="✓"/>
            </a:pPr>
            <a:r>
              <a:rPr lang="en-US" sz="1100" dirty="0">
                <a:solidFill>
                  <a:srgbClr val="CBD8D0"/>
                </a:solidFill>
                <a:latin typeface="Calibri" pitchFamily="34" charset="0"/>
                <a:ea typeface="Calibri" pitchFamily="34" charset="-122"/>
                <a:cs typeface="Calibri" pitchFamily="34" charset="-120"/>
              </a:rPr>
              <a:t>Bulk import</a:t>
            </a:r>
            <a:endParaRPr lang="en-US" sz="1100" dirty="0"/>
          </a:p>
          <a:p>
            <a:pPr marL="342900" indent="-342900">
              <a:spcAft>
                <a:spcPts val="900"/>
              </a:spcAft>
              <a:buSzPct val="100000"/>
              <a:buChar char="✓"/>
            </a:pPr>
            <a:r>
              <a:rPr lang="en-US" sz="1100" dirty="0">
                <a:solidFill>
                  <a:srgbClr val="CBD8D0"/>
                </a:solidFill>
                <a:latin typeface="Calibri" pitchFamily="34" charset="0"/>
                <a:ea typeface="Calibri" pitchFamily="34" charset="-122"/>
                <a:cs typeface="Calibri" pitchFamily="34" charset="-120"/>
              </a:rPr>
              <a:t>Custom credential types</a:t>
            </a:r>
            <a:endParaRPr lang="en-US" sz="1100" dirty="0"/>
          </a:p>
          <a:p>
            <a:pPr marL="342900" indent="-342900">
              <a:spcAft>
                <a:spcPts val="900"/>
              </a:spcAft>
              <a:buSzPct val="100000"/>
              <a:buChar char="✓"/>
            </a:pPr>
            <a:r>
              <a:rPr lang="en-US" sz="1100" dirty="0">
                <a:solidFill>
                  <a:srgbClr val="CBD8D0"/>
                </a:solidFill>
                <a:latin typeface="Calibri" pitchFamily="34" charset="0"/>
                <a:ea typeface="Calibri" pitchFamily="34" charset="-122"/>
                <a:cs typeface="Calibri" pitchFamily="34" charset="-120"/>
              </a:rPr>
              <a:t>Supervisor views</a:t>
            </a:r>
            <a:endParaRPr lang="en-US" sz="1100" dirty="0"/>
          </a:p>
          <a:p>
            <a:pPr marL="342900" indent="-342900">
              <a:spcAft>
                <a:spcPts val="900"/>
              </a:spcAft>
              <a:buSzPct val="100000"/>
              <a:buChar char="✓"/>
            </a:pPr>
            <a:r>
              <a:rPr lang="en-US" sz="1100" dirty="0">
                <a:solidFill>
                  <a:srgbClr val="CBD8D0"/>
                </a:solidFill>
                <a:latin typeface="Calibri" pitchFamily="34" charset="0"/>
                <a:ea typeface="Calibri" pitchFamily="34" charset="-122"/>
                <a:cs typeface="Calibri" pitchFamily="34" charset="-120"/>
              </a:rPr>
              <a:t>Priority support</a:t>
            </a:r>
            <a:endParaRPr lang="en-US" sz="1100" dirty="0"/>
          </a:p>
        </p:txBody>
      </p:sp>
      <p:sp>
        <p:nvSpPr>
          <p:cNvPr id="17" name="Shape 15"/>
          <p:cNvSpPr/>
          <p:nvPr/>
        </p:nvSpPr>
        <p:spPr>
          <a:xfrm>
            <a:off x="8193024" y="1828800"/>
            <a:ext cx="3566160" cy="3703320"/>
          </a:xfrm>
          <a:prstGeom prst="roundRect">
            <a:avLst>
              <a:gd name="adj" fmla="val 2051"/>
            </a:avLst>
          </a:prstGeom>
          <a:solidFill>
            <a:srgbClr val="FFFFFF"/>
          </a:solidFill>
          <a:ln w="12700">
            <a:solidFill>
              <a:srgbClr val="E5E7EB"/>
            </a:solidFill>
            <a:prstDash val="solid"/>
          </a:ln>
        </p:spPr>
      </p:sp>
      <p:sp>
        <p:nvSpPr>
          <p:cNvPr id="18" name="Text 16"/>
          <p:cNvSpPr/>
          <p:nvPr/>
        </p:nvSpPr>
        <p:spPr>
          <a:xfrm>
            <a:off x="8467344" y="2084832"/>
            <a:ext cx="3017520" cy="274320"/>
          </a:xfrm>
          <a:prstGeom prst="rect">
            <a:avLst/>
          </a:prstGeom>
          <a:noFill/>
          <a:ln/>
        </p:spPr>
        <p:txBody>
          <a:bodyPr wrap="square" rtlCol="0" anchor="ctr"/>
          <a:lstStyle/>
          <a:p>
            <a:pPr indent="0" marL="0">
              <a:buNone/>
            </a:pPr>
            <a:r>
              <a:rPr lang="en-US" sz="1050" b="1" spc="100" kern="0" dirty="0">
                <a:solidFill>
                  <a:srgbClr val="1F5C2C"/>
                </a:solidFill>
                <a:latin typeface="Calibri" pitchFamily="34" charset="0"/>
                <a:ea typeface="Calibri" pitchFamily="34" charset="-122"/>
                <a:cs typeface="Calibri" pitchFamily="34" charset="-120"/>
              </a:rPr>
              <a:t>ENTERPRISE</a:t>
            </a:r>
            <a:endParaRPr lang="en-US" sz="1050" dirty="0"/>
          </a:p>
        </p:txBody>
      </p:sp>
      <p:sp>
        <p:nvSpPr>
          <p:cNvPr id="19" name="Text 17"/>
          <p:cNvSpPr/>
          <p:nvPr/>
        </p:nvSpPr>
        <p:spPr>
          <a:xfrm>
            <a:off x="8467344" y="2359152"/>
            <a:ext cx="3017520" cy="548640"/>
          </a:xfrm>
          <a:prstGeom prst="rect">
            <a:avLst/>
          </a:prstGeom>
          <a:noFill/>
          <a:ln/>
        </p:spPr>
        <p:txBody>
          <a:bodyPr wrap="square" rtlCol="0" anchor="ctr"/>
          <a:lstStyle/>
          <a:p>
            <a:pPr indent="0" marL="0">
              <a:buNone/>
            </a:pPr>
            <a:r>
              <a:rPr lang="en-US" sz="3000" b="1" dirty="0">
                <a:solidFill>
                  <a:srgbClr val="0C2540"/>
                </a:solidFill>
                <a:latin typeface="Calibri" pitchFamily="34" charset="0"/>
                <a:ea typeface="Calibri" pitchFamily="34" charset="-122"/>
                <a:cs typeface="Calibri" pitchFamily="34" charset="-120"/>
              </a:rPr>
              <a:t>Custom</a:t>
            </a:r>
            <a:endParaRPr lang="en-US" sz="3000" dirty="0"/>
          </a:p>
        </p:txBody>
      </p:sp>
      <p:sp>
        <p:nvSpPr>
          <p:cNvPr id="20" name="Text 18"/>
          <p:cNvSpPr/>
          <p:nvPr/>
        </p:nvSpPr>
        <p:spPr>
          <a:xfrm>
            <a:off x="8467344" y="2907792"/>
            <a:ext cx="3017520" cy="320040"/>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annual contract — 500+ workers</a:t>
            </a:r>
            <a:endParaRPr lang="en-US" sz="1000" dirty="0"/>
          </a:p>
        </p:txBody>
      </p:sp>
      <p:sp>
        <p:nvSpPr>
          <p:cNvPr id="21" name="Text 19"/>
          <p:cNvSpPr/>
          <p:nvPr/>
        </p:nvSpPr>
        <p:spPr>
          <a:xfrm>
            <a:off x="8467344" y="3383280"/>
            <a:ext cx="3017520" cy="1965960"/>
          </a:xfrm>
          <a:prstGeom prst="rect">
            <a:avLst/>
          </a:prstGeom>
          <a:noFill/>
          <a:ln/>
        </p:spPr>
        <p:txBody>
          <a:bodyPr wrap="square" rtlCol="0" anchor="t"/>
          <a:lstStyle/>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Everything in Professional</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SSO / API access</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Vendor &amp; subcontractor support</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Dedicated onboarding</a:t>
            </a:r>
            <a:endParaRPr lang="en-US" sz="1100" dirty="0"/>
          </a:p>
          <a:p>
            <a:pPr marL="342900" indent="-342900">
              <a:spcAft>
                <a:spcPts val="900"/>
              </a:spcAft>
              <a:buSzPct val="100000"/>
              <a:buChar char="✓"/>
            </a:pPr>
            <a:r>
              <a:rPr lang="en-US" sz="1100" dirty="0">
                <a:solidFill>
                  <a:srgbClr val="4B5563"/>
                </a:solidFill>
                <a:latin typeface="Calibri" pitchFamily="34" charset="0"/>
                <a:ea typeface="Calibri" pitchFamily="34" charset="-122"/>
                <a:cs typeface="Calibri" pitchFamily="34" charset="-120"/>
              </a:rPr>
              <a:t>SLA / security review</a:t>
            </a:r>
            <a:endParaRPr lang="en-US" sz="1100" dirty="0"/>
          </a:p>
        </p:txBody>
      </p:sp>
      <p:sp>
        <p:nvSpPr>
          <p:cNvPr id="22" name="Shape 20"/>
          <p:cNvSpPr/>
          <p:nvPr/>
        </p:nvSpPr>
        <p:spPr>
          <a:xfrm>
            <a:off x="548640" y="5733288"/>
            <a:ext cx="11064240" cy="502920"/>
          </a:xfrm>
          <a:prstGeom prst="roundRect">
            <a:avLst>
              <a:gd name="adj" fmla="val 10909"/>
            </a:avLst>
          </a:prstGeom>
          <a:solidFill>
            <a:srgbClr val="EAF3EA"/>
          </a:solidFill>
          <a:ln w="12700">
            <a:solidFill>
              <a:srgbClr val="CFE8D4"/>
            </a:solidFill>
            <a:prstDash val="solid"/>
          </a:ln>
        </p:spPr>
      </p:sp>
      <p:sp>
        <p:nvSpPr>
          <p:cNvPr id="23" name="Text 21"/>
          <p:cNvSpPr/>
          <p:nvPr/>
        </p:nvSpPr>
        <p:spPr>
          <a:xfrm>
            <a:off x="777240" y="5733288"/>
            <a:ext cx="10607040" cy="502920"/>
          </a:xfrm>
          <a:prstGeom prst="rect">
            <a:avLst/>
          </a:prstGeom>
          <a:noFill/>
          <a:ln/>
        </p:spPr>
        <p:txBody>
          <a:bodyPr wrap="square" rtlCol="0" anchor="ctr"/>
          <a:lstStyle/>
          <a:p>
            <a:pPr indent="0" marL="0">
              <a:buNone/>
            </a:pPr>
            <a:r>
              <a:rPr lang="en-US" sz="1150" b="1" dirty="0">
                <a:solidFill>
                  <a:srgbClr val="1F5C2C"/>
                </a:solidFill>
                <a:latin typeface="Calibri" pitchFamily="34" charset="0"/>
                <a:ea typeface="Calibri" pitchFamily="34" charset="-122"/>
                <a:cs typeface="Calibri" pitchFamily="34" charset="-120"/>
              </a:rPr>
              <a:t>Launch offer: </a:t>
            </a:r>
            <a:pPr indent="0" marL="0">
              <a:buNone/>
            </a:pPr>
            <a:r>
              <a:rPr lang="en-US" sz="1150" dirty="0">
                <a:solidFill>
                  <a:srgbClr val="1F5C2C"/>
                </a:solidFill>
                <a:latin typeface="Calibri" pitchFamily="34" charset="0"/>
                <a:ea typeface="Calibri" pitchFamily="34" charset="-122"/>
                <a:cs typeface="Calibri" pitchFamily="34" charset="-120"/>
              </a:rPr>
              <a:t>$299/mo for up to 100 active workers — unlimited credentials, QR pages, expiration tracking &amp; CSV export.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540"/>
        </a:solidFill>
      </p:bgPr>
    </p:bg>
    <p:spTree>
      <p:nvGrpSpPr>
        <p:cNvPr id="1" name=""/>
        <p:cNvGrpSpPr/>
        <p:nvPr/>
      </p:nvGrpSpPr>
      <p:grpSpPr>
        <a:xfrm>
          <a:off x="0" y="0"/>
          <a:ext cx="0" cy="0"/>
          <a:chOff x="0" y="0"/>
          <a:chExt cx="0" cy="0"/>
        </a:xfrm>
      </p:grpSpPr>
      <p:sp>
        <p:nvSpPr>
          <p:cNvPr id="2" name="Shape 0"/>
          <p:cNvSpPr/>
          <p:nvPr/>
        </p:nvSpPr>
        <p:spPr>
          <a:xfrm>
            <a:off x="5428336" y="566928"/>
            <a:ext cx="1335024" cy="1021862"/>
          </a:xfrm>
          <a:prstGeom prst="roundRect">
            <a:avLst>
              <a:gd name="adj" fmla="val 8948"/>
            </a:avLst>
          </a:prstGeom>
          <a:solidFill>
            <a:srgbClr val="FFFFFF"/>
          </a:solidFill>
          <a:ln/>
        </p:spPr>
      </p:sp>
      <p:pic>
        <p:nvPicPr>
          <p:cNvPr id="3" name="Image 0" descr="/sessions/hopeful-pensive-planck/mnt/outputs/logo_icon.png">    </p:cNvPr>
          <p:cNvPicPr>
            <a:picLocks noChangeAspect="1"/>
          </p:cNvPicPr>
          <p:nvPr/>
        </p:nvPicPr>
        <p:blipFill>
          <a:blip r:embed="rId1"/>
          <a:stretch>
            <a:fillRect/>
          </a:stretch>
        </p:blipFill>
        <p:spPr>
          <a:xfrm>
            <a:off x="5684368" y="822960"/>
            <a:ext cx="822960" cy="509798"/>
          </a:xfrm>
          <a:prstGeom prst="rect">
            <a:avLst/>
          </a:prstGeom>
        </p:spPr>
      </p:pic>
      <p:sp>
        <p:nvSpPr>
          <p:cNvPr id="4" name="Text 1"/>
          <p:cNvSpPr/>
          <p:nvPr/>
        </p:nvSpPr>
        <p:spPr>
          <a:xfrm>
            <a:off x="914400" y="2423160"/>
            <a:ext cx="10362895" cy="73152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Stop calling the office to check a card.</a:t>
            </a:r>
            <a:endParaRPr lang="en-US" sz="3000" dirty="0"/>
          </a:p>
        </p:txBody>
      </p:sp>
      <p:sp>
        <p:nvSpPr>
          <p:cNvPr id="5" name="Text 2"/>
          <p:cNvSpPr/>
          <p:nvPr/>
        </p:nvSpPr>
        <p:spPr>
          <a:xfrm>
            <a:off x="1828800" y="3200400"/>
            <a:ext cx="8534095" cy="548640"/>
          </a:xfrm>
          <a:prstGeom prst="rect">
            <a:avLst/>
          </a:prstGeom>
          <a:noFill/>
          <a:ln/>
        </p:spPr>
        <p:txBody>
          <a:bodyPr wrap="square" rtlCol="0" anchor="ctr"/>
          <a:lstStyle/>
          <a:p>
            <a:pPr algn="ctr" indent="0" marL="0">
              <a:buNone/>
            </a:pPr>
            <a:r>
              <a:rPr lang="en-US" sz="1300" dirty="0">
                <a:solidFill>
                  <a:srgbClr val="CBD8D0"/>
                </a:solidFill>
                <a:latin typeface="Calibri" pitchFamily="34" charset="0"/>
                <a:ea typeface="Calibri" pitchFamily="34" charset="-122"/>
                <a:cs typeface="Calibri" pitchFamily="34" charset="-120"/>
              </a:rPr>
              <a:t>See how FieldCred turns worker certifications into live, scannable credentials your team can verify at the gate.</a:t>
            </a:r>
            <a:endParaRPr lang="en-US" sz="1300" dirty="0"/>
          </a:p>
        </p:txBody>
      </p:sp>
      <p:sp>
        <p:nvSpPr>
          <p:cNvPr id="6" name="Shape 3"/>
          <p:cNvSpPr/>
          <p:nvPr/>
        </p:nvSpPr>
        <p:spPr>
          <a:xfrm>
            <a:off x="4907128" y="3977640"/>
            <a:ext cx="2377440" cy="502920"/>
          </a:xfrm>
          <a:prstGeom prst="roundRect">
            <a:avLst>
              <a:gd name="adj" fmla="val 14545"/>
            </a:avLst>
          </a:prstGeom>
          <a:solidFill>
            <a:srgbClr val="368C43"/>
          </a:solidFill>
          <a:ln/>
        </p:spPr>
      </p:sp>
      <p:sp>
        <p:nvSpPr>
          <p:cNvPr id="7" name="Text 4"/>
          <p:cNvSpPr/>
          <p:nvPr/>
        </p:nvSpPr>
        <p:spPr>
          <a:xfrm>
            <a:off x="4907128" y="3977640"/>
            <a:ext cx="23774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Request a Demo</a:t>
            </a:r>
            <a:endParaRPr lang="en-US" sz="1300" dirty="0"/>
          </a:p>
        </p:txBody>
      </p:sp>
      <p:sp>
        <p:nvSpPr>
          <p:cNvPr id="8" name="Text 5"/>
          <p:cNvSpPr/>
          <p:nvPr/>
        </p:nvSpPr>
        <p:spPr>
          <a:xfrm>
            <a:off x="914400" y="4937760"/>
            <a:ext cx="10362895"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hello@fieldcred.co</a:t>
            </a:r>
            <a:pPr algn="ctr" indent="0" marL="0">
              <a:buNone/>
            </a:pPr>
            <a:r>
              <a:rPr lang="en-US" sz="1200" dirty="0">
                <a:solidFill>
                  <a:srgbClr val="CBD8D0"/>
                </a:solidFill>
                <a:latin typeface="Calibri" pitchFamily="34" charset="0"/>
                <a:ea typeface="Calibri" pitchFamily="34" charset="-122"/>
                <a:cs typeface="Calibri" pitchFamily="34" charset="-120"/>
              </a:rPr>
              <a:t>     ·     </a:t>
            </a:r>
            <a:pPr algn="ctr" indent="0" marL="0">
              <a:buNone/>
            </a:pPr>
            <a:r>
              <a:rPr lang="en-US" sz="1200" dirty="0">
                <a:solidFill>
                  <a:srgbClr val="FFFFFF"/>
                </a:solidFill>
                <a:latin typeface="Calibri" pitchFamily="34" charset="0"/>
                <a:ea typeface="Calibri" pitchFamily="34" charset="-122"/>
                <a:cs typeface="Calibri" pitchFamily="34" charset="-120"/>
              </a:rPr>
              <a:t>fieldcred.co</a:t>
            </a:r>
            <a:pPr algn="ctr" indent="0" marL="0">
              <a:buNone/>
            </a:pPr>
            <a:r>
              <a:rPr lang="en-US" sz="1200" dirty="0">
                <a:solidFill>
                  <a:srgbClr val="CBD8D0"/>
                </a:solidFill>
                <a:latin typeface="Calibri" pitchFamily="34" charset="0"/>
                <a:ea typeface="Calibri" pitchFamily="34" charset="-122"/>
                <a:cs typeface="Calibri" pitchFamily="34" charset="-120"/>
              </a:rPr>
              <a:t>     ·     </a:t>
            </a:r>
            <a:pPr algn="ctr" indent="0" marL="0">
              <a:buNone/>
            </a:pPr>
            <a:r>
              <a:rPr lang="en-US" sz="1200" dirty="0">
                <a:solidFill>
                  <a:srgbClr val="FFFFFF"/>
                </a:solidFill>
                <a:latin typeface="Calibri" pitchFamily="34" charset="0"/>
                <a:ea typeface="Calibri" pitchFamily="34" charset="-122"/>
                <a:cs typeface="Calibri" pitchFamily="34" charset="-120"/>
              </a:rPr>
              <a:t>app.fieldcred.co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2026-07-14T13:04:58Z</dcterms:created>
  <dcterms:modified xsi:type="dcterms:W3CDTF">2026-07-14T13:04:58Z</dcterms:modified>
</cp:coreProperties>
</file>